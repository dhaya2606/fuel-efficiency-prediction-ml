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4769" r:id="rId1"/>
  </p:sldMasterIdLst>
  <p:notesMasterIdLst>
    <p:notesMasterId r:id="rId16"/>
  </p:notesMasterIdLst>
  <p:sldIdLst>
    <p:sldId id="256" r:id="rId2"/>
    <p:sldId id="714" r:id="rId3"/>
    <p:sldId id="717" r:id="rId4"/>
    <p:sldId id="719" r:id="rId5"/>
    <p:sldId id="720" r:id="rId6"/>
    <p:sldId id="722" r:id="rId7"/>
    <p:sldId id="715" r:id="rId8"/>
    <p:sldId id="723" r:id="rId9"/>
    <p:sldId id="724" r:id="rId10"/>
    <p:sldId id="674" r:id="rId11"/>
    <p:sldId id="730" r:id="rId12"/>
    <p:sldId id="731" r:id="rId13"/>
    <p:sldId id="732" r:id="rId14"/>
    <p:sldId id="303"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1A55"/>
    <a:srgbClr val="CFCFCF"/>
    <a:srgbClr val="161A3E"/>
    <a:srgbClr val="333F50"/>
    <a:srgbClr val="8497B0"/>
    <a:srgbClr val="8FAADC"/>
    <a:srgbClr val="2F5597"/>
    <a:srgbClr val="626CC7"/>
    <a:srgbClr val="323B8D"/>
    <a:srgbClr val="21275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CA8346-09F0-4301-B585-28E9403048AB}" v="218" dt="2023-11-21T11:40:02.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473" autoAdjust="0"/>
    <p:restoredTop sz="93445" autoAdjust="0"/>
  </p:normalViewPr>
  <p:slideViewPr>
    <p:cSldViewPr snapToGrid="0">
      <p:cViewPr varScale="1">
        <p:scale>
          <a:sx n="106" d="100"/>
          <a:sy n="106" d="100"/>
        </p:scale>
        <p:origin x="496" y="168"/>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11/11/25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GB"/>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1160EA64-D806-43AC-9DF2-F8C432F32B4C}" type="datetimeFigureOut">
              <a:rPr lang="en-US" smtClean="0"/>
              <a:t>11/11/25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3707453827"/>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GB"/>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160EA64-D806-43AC-9DF2-F8C432F32B4C}" type="datetimeFigureOut">
              <a:rPr lang="en-US" smtClean="0"/>
              <a:t>11/11/25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968245298"/>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GB"/>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1160EA64-D806-43AC-9DF2-F8C432F32B4C}" type="datetimeFigureOut">
              <a:rPr lang="en-US" smtClean="0"/>
              <a:t>11/11/25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3645210227"/>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GB"/>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1160EA64-D806-43AC-9DF2-F8C432F32B4C}" type="datetimeFigureOut">
              <a:rPr lang="en-US" smtClean="0"/>
              <a:t>11/11/25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4086937447"/>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GB"/>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smtClean="0"/>
              <a:t>11/11/25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1128728081"/>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smtClean="0"/>
              <a:t>11/11/25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2416549700"/>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C278504F-A551-4DE0-9316-4DCD1D8CC752}" type="datetimeFigureOut">
              <a:rPr lang="en-US" smtClean="0"/>
              <a:t>11/11/25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3758610601"/>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GB"/>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1160EA64-D806-43AC-9DF2-F8C432F32B4C}" type="datetimeFigureOut">
              <a:rPr lang="en-US" smtClean="0"/>
              <a:t>11/11/25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1546185080"/>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042B0DB6-F5C7-45FB-8CF3-31B45F9C2DAC}" type="datetimeFigureOut">
              <a:rPr lang="en-US" smtClean="0"/>
              <a:t>11/11/25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3295990468"/>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1160EA64-D806-43AC-9DF2-F8C432F32B4C}" type="datetimeFigureOut">
              <a:rPr lang="en-US" smtClean="0"/>
              <a:t>11/11/25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2916650520"/>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GB"/>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1160EA64-D806-43AC-9DF2-F8C432F32B4C}" type="datetimeFigureOut">
              <a:rPr lang="en-US" smtClean="0"/>
              <a:t>11/11/25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2403690606"/>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GB"/>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1160EA64-D806-43AC-9DF2-F8C432F32B4C}" type="datetimeFigureOut">
              <a:rPr lang="en-US" smtClean="0"/>
              <a:t>11/11/25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A7A6979-0714-4377-B894-6BE4C2D6E202}" type="slidenum">
              <a:rPr lang="en-US" smtClean="0"/>
              <a:pPr/>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689258131"/>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GB"/>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1160EA64-D806-43AC-9DF2-F8C432F32B4C}" type="datetimeFigureOut">
              <a:rPr lang="en-US" smtClean="0"/>
              <a:t>11/11/25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313018165"/>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GB"/>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1160EA64-D806-43AC-9DF2-F8C432F32B4C}" type="datetimeFigureOut">
              <a:rPr lang="en-US" smtClean="0"/>
              <a:t>11/11/25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893008033"/>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GB"/>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1160EA64-D806-43AC-9DF2-F8C432F32B4C}" type="datetimeFigureOut">
              <a:rPr lang="en-US" smtClean="0"/>
              <a:t>11/11/25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1408266230"/>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GB"/>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160EA64-D806-43AC-9DF2-F8C432F32B4C}" type="datetimeFigureOut">
              <a:rPr lang="en-US" smtClean="0"/>
              <a:t>11/11/25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1908165701"/>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GB"/>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160EA64-D806-43AC-9DF2-F8C432F32B4C}" type="datetimeFigureOut">
              <a:rPr lang="en-US" smtClean="0"/>
              <a:t>11/11/25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250774120"/>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3764305750"/>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160EA64-D806-43AC-9DF2-F8C432F32B4C}" type="datetimeFigureOut">
              <a:rPr lang="en-US" smtClean="0"/>
              <a:t>11/11/25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358147377"/>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2965109588"/>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33">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1160EA64-D806-43AC-9DF2-F8C432F32B4C}" type="datetimeFigureOut">
              <a:rPr lang="en-US" smtClean="0"/>
              <a:t>11/11/25</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8A7A6979-0714-4377-B894-6BE4C2D6E202}" type="slidenum">
              <a:rPr lang="en-US" smtClean="0"/>
              <a:pPr/>
              <a:t>‹#›</a:t>
            </a:fld>
            <a:endParaRPr lang="en-US" dirty="0"/>
          </a:p>
        </p:txBody>
      </p:sp>
      <p:pic>
        <p:nvPicPr>
          <p:cNvPr id="7" name="Picture 4" descr="Top Ranked Data Science Institute, Classroom Plus Online Training | Boston  Institute of Analytics">
            <a:extLst>
              <a:ext uri="{FF2B5EF4-FFF2-40B4-BE49-F238E27FC236}">
                <a16:creationId xmlns:a16="http://schemas.microsoft.com/office/drawing/2014/main" id="{C39F9027-2AE4-83C7-1744-1107F5B5659F}"/>
              </a:ext>
            </a:extLst>
          </p:cNvPr>
          <p:cNvPicPr>
            <a:picLocks noChangeAspect="1" noChangeArrowheads="1"/>
          </p:cNvPicPr>
          <p:nvPr userDrawn="1"/>
        </p:nvPicPr>
        <p:blipFill rotWithShape="1">
          <a:blip r:embed="rId34"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E22B31DC-CBCC-1AD8-71B8-A3C093AC0A01}"/>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3741292965"/>
      </p:ext>
    </p:extLst>
  </p:cSld>
  <p:clrMap bg1="lt1" tx1="dk1" bg2="lt2" tx2="dk2" accent1="accent1" accent2="accent2" accent3="accent3" accent4="accent4" accent5="accent5" accent6="accent6" hlink="hlink" folHlink="folHlink"/>
  <p:sldLayoutIdLst>
    <p:sldLayoutId id="2147484770" r:id="rId1"/>
    <p:sldLayoutId id="2147484771" r:id="rId2"/>
    <p:sldLayoutId id="2147484772" r:id="rId3"/>
    <p:sldLayoutId id="2147484773" r:id="rId4"/>
    <p:sldLayoutId id="2147484774" r:id="rId5"/>
    <p:sldLayoutId id="2147484775" r:id="rId6"/>
    <p:sldLayoutId id="2147484776" r:id="rId7"/>
    <p:sldLayoutId id="2147484777" r:id="rId8"/>
    <p:sldLayoutId id="2147484778" r:id="rId9"/>
    <p:sldLayoutId id="2147484779" r:id="rId10"/>
    <p:sldLayoutId id="2147484780" r:id="rId11"/>
    <p:sldLayoutId id="2147484781" r:id="rId12"/>
    <p:sldLayoutId id="2147484782" r:id="rId13"/>
    <p:sldLayoutId id="2147484783" r:id="rId14"/>
    <p:sldLayoutId id="2147484784" r:id="rId15"/>
    <p:sldLayoutId id="2147484785" r:id="rId16"/>
    <p:sldLayoutId id="2147484786" r:id="rId17"/>
    <p:sldLayoutId id="2147484787" r:id="rId18"/>
    <p:sldLayoutId id="2147484788" r:id="rId19"/>
    <p:sldLayoutId id="2147484791" r:id="rId20"/>
    <p:sldLayoutId id="2147483662" r:id="rId21"/>
    <p:sldLayoutId id="2147483672" r:id="rId22"/>
    <p:sldLayoutId id="2147483673" r:id="rId23"/>
    <p:sldLayoutId id="2147483677" r:id="rId24"/>
    <p:sldLayoutId id="2147483676" r:id="rId25"/>
    <p:sldLayoutId id="2147483663" r:id="rId26"/>
    <p:sldLayoutId id="2147483664" r:id="rId27"/>
    <p:sldLayoutId id="2147483665" r:id="rId28"/>
    <p:sldLayoutId id="2147483666" r:id="rId29"/>
    <p:sldLayoutId id="2147483668" r:id="rId30"/>
    <p:sldLayoutId id="2147483670" r:id="rId31"/>
  </p:sldLayoutIdLst>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723900" y="3429000"/>
            <a:ext cx="107442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600" dirty="0"/>
              <a:t>FUEL EFFICIENCY PREDICTION AND ANALYSIS FOR AUTOMOTIVE INSIGHTS</a:t>
            </a:r>
            <a:endParaRPr lang="en-US" sz="8800" dirty="0">
              <a:solidFill>
                <a:schemeClr val="tx2">
                  <a:lumMod val="20000"/>
                  <a:lumOff val="80000"/>
                </a:schemeClr>
              </a:solidFill>
              <a:latin typeface="Calibri" panose="020F0502020204030204" pitchFamily="34" charset="0"/>
            </a:endParaRPr>
          </a:p>
        </p:txBody>
      </p:sp>
    </p:spTree>
    <p:extLst>
      <p:ext uri="{BB962C8B-B14F-4D97-AF65-F5344CB8AC3E}">
        <p14:creationId xmlns:p14="http://schemas.microsoft.com/office/powerpoint/2010/main" val="1024334718"/>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B003C9-103A-47E6-D7EB-87D0A8CB5431}"/>
              </a:ext>
            </a:extLst>
          </p:cNvPr>
          <p:cNvSpPr>
            <a:spLocks noGrp="1"/>
          </p:cNvSpPr>
          <p:nvPr>
            <p:ph idx="1"/>
          </p:nvPr>
        </p:nvSpPr>
        <p:spPr>
          <a:xfrm>
            <a:off x="678883" y="849813"/>
            <a:ext cx="10834234" cy="5278035"/>
          </a:xfrm>
        </p:spPr>
        <p:txBody>
          <a:bodyPr>
            <a:noAutofit/>
          </a:bodyPr>
          <a:lstStyle/>
          <a:p>
            <a:pPr>
              <a:lnSpc>
                <a:spcPct val="100000"/>
              </a:lnSpc>
              <a:spcBef>
                <a:spcPts val="1400"/>
              </a:spcBef>
            </a:pPr>
            <a:r>
              <a:rPr lang="en-IN" b="1" cap="none" dirty="0">
                <a:solidFill>
                  <a:srgbClr val="1C1A55"/>
                </a:solidFill>
                <a:latin typeface="Cochin" panose="02000603020000020003" pitchFamily="2" charset="0"/>
                <a:cs typeface="Angsana New" panose="02020603050405020304" pitchFamily="18" charset="-34"/>
              </a:rPr>
              <a:t>Problem Statement</a:t>
            </a:r>
          </a:p>
          <a:p>
            <a:pPr>
              <a:lnSpc>
                <a:spcPct val="100000"/>
              </a:lnSpc>
              <a:spcBef>
                <a:spcPts val="1400"/>
              </a:spcBef>
            </a:pPr>
            <a:r>
              <a:rPr lang="en-IN" b="1" cap="none" dirty="0">
                <a:solidFill>
                  <a:srgbClr val="1C1A55"/>
                </a:solidFill>
                <a:latin typeface="Cochin" panose="02000603020000020003" pitchFamily="2" charset="0"/>
                <a:cs typeface="Angsana New" panose="02020603050405020304" pitchFamily="18" charset="-34"/>
              </a:rPr>
              <a:t>Introduction</a:t>
            </a:r>
          </a:p>
          <a:p>
            <a:pPr>
              <a:lnSpc>
                <a:spcPct val="100000"/>
              </a:lnSpc>
              <a:spcBef>
                <a:spcPts val="1400"/>
              </a:spcBef>
            </a:pPr>
            <a:r>
              <a:rPr lang="en-IN" b="1" cap="none" dirty="0">
                <a:solidFill>
                  <a:srgbClr val="1C1A55"/>
                </a:solidFill>
                <a:latin typeface="Cochin" panose="02000603020000020003" pitchFamily="2" charset="0"/>
                <a:cs typeface="Angsana New" panose="02020603050405020304" pitchFamily="18" charset="-34"/>
              </a:rPr>
              <a:t>Dataset Overview</a:t>
            </a:r>
          </a:p>
          <a:p>
            <a:pPr>
              <a:lnSpc>
                <a:spcPct val="100000"/>
              </a:lnSpc>
              <a:spcBef>
                <a:spcPts val="1400"/>
              </a:spcBef>
            </a:pPr>
            <a:r>
              <a:rPr lang="en-IN" b="1" cap="none" dirty="0">
                <a:solidFill>
                  <a:srgbClr val="1C1A55"/>
                </a:solidFill>
                <a:latin typeface="Cochin" panose="02000603020000020003" pitchFamily="2" charset="0"/>
                <a:cs typeface="Angsana New" panose="02020603050405020304" pitchFamily="18" charset="-34"/>
              </a:rPr>
              <a:t>Exploratory Data Analysis</a:t>
            </a:r>
          </a:p>
          <a:p>
            <a:pPr>
              <a:lnSpc>
                <a:spcPct val="100000"/>
              </a:lnSpc>
              <a:spcBef>
                <a:spcPts val="1400"/>
              </a:spcBef>
            </a:pPr>
            <a:r>
              <a:rPr lang="en-IN" b="1" cap="none" dirty="0">
                <a:solidFill>
                  <a:srgbClr val="1C1A55"/>
                </a:solidFill>
                <a:latin typeface="Cochin" panose="02000603020000020003" pitchFamily="2" charset="0"/>
                <a:cs typeface="Angsana New" panose="02020603050405020304" pitchFamily="18" charset="-34"/>
              </a:rPr>
              <a:t>Data Preprocessing &amp; Feature Engineering</a:t>
            </a:r>
          </a:p>
          <a:p>
            <a:pPr>
              <a:lnSpc>
                <a:spcPct val="100000"/>
              </a:lnSpc>
              <a:spcBef>
                <a:spcPts val="1400"/>
              </a:spcBef>
            </a:pPr>
            <a:r>
              <a:rPr lang="en-IN" b="1" cap="none" dirty="0">
                <a:solidFill>
                  <a:srgbClr val="1C1A55"/>
                </a:solidFill>
                <a:latin typeface="Cochin" panose="02000603020000020003" pitchFamily="2" charset="0"/>
                <a:cs typeface="Angsana New" panose="02020603050405020304" pitchFamily="18" charset="-34"/>
              </a:rPr>
              <a:t>Models Selection and Training</a:t>
            </a:r>
          </a:p>
          <a:p>
            <a:pPr>
              <a:lnSpc>
                <a:spcPct val="100000"/>
              </a:lnSpc>
              <a:spcBef>
                <a:spcPts val="1400"/>
              </a:spcBef>
            </a:pPr>
            <a:r>
              <a:rPr lang="en-IN" b="1" cap="none" dirty="0">
                <a:solidFill>
                  <a:srgbClr val="1C1A55"/>
                </a:solidFill>
                <a:latin typeface="Cochin" panose="02000603020000020003" pitchFamily="2" charset="0"/>
                <a:cs typeface="Angsana New" panose="02020603050405020304" pitchFamily="18" charset="-34"/>
              </a:rPr>
              <a:t>Model Comparison Summary</a:t>
            </a:r>
          </a:p>
          <a:p>
            <a:pPr>
              <a:lnSpc>
                <a:spcPct val="100000"/>
              </a:lnSpc>
              <a:spcBef>
                <a:spcPts val="1400"/>
              </a:spcBef>
            </a:pPr>
            <a:r>
              <a:rPr lang="en-IN" b="1" cap="none" dirty="0">
                <a:solidFill>
                  <a:srgbClr val="1C1A55"/>
                </a:solidFill>
                <a:latin typeface="Cochin" panose="02000603020000020003" pitchFamily="2" charset="0"/>
                <a:cs typeface="Angsana New" panose="02020603050405020304" pitchFamily="18" charset="-34"/>
              </a:rPr>
              <a:t>Feature Importance</a:t>
            </a:r>
          </a:p>
          <a:p>
            <a:pPr>
              <a:lnSpc>
                <a:spcPct val="100000"/>
              </a:lnSpc>
              <a:spcBef>
                <a:spcPts val="1400"/>
              </a:spcBef>
            </a:pPr>
            <a:r>
              <a:rPr lang="en-IN" b="1" cap="none" dirty="0">
                <a:solidFill>
                  <a:srgbClr val="1C1A55"/>
                </a:solidFill>
                <a:latin typeface="Cochin" panose="02000603020000020003" pitchFamily="2" charset="0"/>
                <a:cs typeface="Angsana New" panose="02020603050405020304" pitchFamily="18" charset="-34"/>
              </a:rPr>
              <a:t>Insights (Business Insights and Future Scope)</a:t>
            </a:r>
          </a:p>
          <a:p>
            <a:pPr>
              <a:lnSpc>
                <a:spcPct val="100000"/>
              </a:lnSpc>
              <a:spcBef>
                <a:spcPts val="1400"/>
              </a:spcBef>
            </a:pPr>
            <a:r>
              <a:rPr lang="en-IN" b="1" cap="none" dirty="0">
                <a:solidFill>
                  <a:srgbClr val="1C1A55"/>
                </a:solidFill>
                <a:latin typeface="Cochin" panose="02000603020000020003" pitchFamily="2" charset="0"/>
                <a:cs typeface="Angsana New" panose="02020603050405020304" pitchFamily="18" charset="-34"/>
              </a:rPr>
              <a:t>Conclusion </a:t>
            </a:r>
          </a:p>
        </p:txBody>
      </p:sp>
      <p:sp>
        <p:nvSpPr>
          <p:cNvPr id="9" name="Rectangle 8">
            <a:extLst>
              <a:ext uri="{FF2B5EF4-FFF2-40B4-BE49-F238E27FC236}">
                <a16:creationId xmlns:a16="http://schemas.microsoft.com/office/drawing/2014/main" id="{55214E67-48E2-CED0-0FE9-94C3E411B6B8}"/>
              </a:ext>
            </a:extLst>
          </p:cNvPr>
          <p:cNvSpPr/>
          <p:nvPr/>
        </p:nvSpPr>
        <p:spPr>
          <a:xfrm>
            <a:off x="4860366" y="-120247"/>
            <a:ext cx="2518766" cy="861774"/>
          </a:xfrm>
          <a:prstGeom prst="rect">
            <a:avLst/>
          </a:prstGeom>
          <a:noFill/>
        </p:spPr>
        <p:txBody>
          <a:bodyPr wrap="none" lIns="91440" tIns="45720" rIns="91440" bIns="45720">
            <a:spAutoFit/>
          </a:bodyPr>
          <a:lstStyle/>
          <a:p>
            <a:pPr algn="ctr"/>
            <a:r>
              <a:rPr lang="en-US" sz="5000" b="0" cap="none" spc="0" dirty="0">
                <a:ln w="0"/>
                <a:gradFill>
                  <a:gsLst>
                    <a:gs pos="21000">
                      <a:srgbClr val="53575C"/>
                    </a:gs>
                    <a:gs pos="88000">
                      <a:srgbClr val="C5C7CA"/>
                    </a:gs>
                  </a:gsLst>
                  <a:lin ang="5400000"/>
                </a:gradFill>
                <a:effectLst/>
                <a:ea typeface="Ayuthaya" pitchFamily="2" charset="-34"/>
                <a:cs typeface="Calibri" panose="020F0502020204030204" pitchFamily="34" charset="0"/>
              </a:rPr>
              <a:t>AGENDA</a:t>
            </a:r>
            <a:endParaRPr lang="en-US" sz="5000" b="0" cap="none" spc="0" dirty="0">
              <a:ln w="0"/>
              <a:gradFill>
                <a:gsLst>
                  <a:gs pos="21000">
                    <a:srgbClr val="53575C"/>
                  </a:gs>
                  <a:gs pos="88000">
                    <a:srgbClr val="C5C7CA"/>
                  </a:gs>
                </a:gsLst>
                <a:lin ang="5400000"/>
              </a:gradFill>
              <a:effectLst/>
            </a:endParaRPr>
          </a:p>
        </p:txBody>
      </p:sp>
    </p:spTree>
    <p:extLst>
      <p:ext uri="{BB962C8B-B14F-4D97-AF65-F5344CB8AC3E}">
        <p14:creationId xmlns:p14="http://schemas.microsoft.com/office/powerpoint/2010/main" val="1953804542"/>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C45E9-EA83-4C1C-4A86-5B49EFB47798}"/>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8F51B6F-9C0E-7FCD-147A-2FFEA573A0A7}"/>
              </a:ext>
            </a:extLst>
          </p:cNvPr>
          <p:cNvSpPr/>
          <p:nvPr/>
        </p:nvSpPr>
        <p:spPr>
          <a:xfrm>
            <a:off x="3318988" y="105384"/>
            <a:ext cx="5601533" cy="830997"/>
          </a:xfrm>
          <a:prstGeom prst="rect">
            <a:avLst/>
          </a:prstGeom>
          <a:noFill/>
        </p:spPr>
        <p:txBody>
          <a:bodyPr wrap="none" lIns="91440" tIns="45720" rIns="91440" bIns="45720">
            <a:spAutoFit/>
          </a:bodyPr>
          <a:lstStyle/>
          <a:p>
            <a:pPr algn="ctr"/>
            <a:r>
              <a:rPr lang="en-US" sz="4800" b="0" cap="none" spc="0" dirty="0">
                <a:ln w="0"/>
                <a:gradFill>
                  <a:gsLst>
                    <a:gs pos="21000">
                      <a:srgbClr val="53575C"/>
                    </a:gs>
                    <a:gs pos="88000">
                      <a:srgbClr val="C5C7CA"/>
                    </a:gs>
                  </a:gsLst>
                  <a:lin ang="5400000"/>
                </a:gradFill>
                <a:effectLst/>
                <a:ea typeface="Ayuthaya" pitchFamily="2" charset="-34"/>
                <a:cs typeface="Calibri" panose="020F0502020204030204" pitchFamily="34" charset="0"/>
              </a:rPr>
              <a:t>PROBL</a:t>
            </a:r>
            <a:r>
              <a:rPr lang="en-US" sz="4800" dirty="0">
                <a:ln w="0"/>
                <a:gradFill>
                  <a:gsLst>
                    <a:gs pos="21000">
                      <a:srgbClr val="53575C"/>
                    </a:gs>
                    <a:gs pos="88000">
                      <a:srgbClr val="C5C7CA"/>
                    </a:gs>
                  </a:gsLst>
                  <a:lin ang="5400000"/>
                </a:gradFill>
                <a:ea typeface="Ayuthaya" pitchFamily="2" charset="-34"/>
                <a:cs typeface="Calibri" panose="020F0502020204030204" pitchFamily="34" charset="0"/>
              </a:rPr>
              <a:t>EM STATEMENT</a:t>
            </a:r>
            <a:endParaRPr lang="en-US" sz="4800" b="0" cap="none" spc="0" dirty="0">
              <a:ln w="0"/>
              <a:gradFill>
                <a:gsLst>
                  <a:gs pos="21000">
                    <a:srgbClr val="53575C"/>
                  </a:gs>
                  <a:gs pos="88000">
                    <a:srgbClr val="C5C7CA"/>
                  </a:gs>
                </a:gsLst>
                <a:lin ang="5400000"/>
              </a:gradFill>
              <a:effectLst/>
            </a:endParaRPr>
          </a:p>
        </p:txBody>
      </p:sp>
      <p:sp>
        <p:nvSpPr>
          <p:cNvPr id="7" name="Rectangle 5">
            <a:extLst>
              <a:ext uri="{FF2B5EF4-FFF2-40B4-BE49-F238E27FC236}">
                <a16:creationId xmlns:a16="http://schemas.microsoft.com/office/drawing/2014/main" id="{84867BDC-62A0-AD24-BBB2-5CA5EA5754F3}"/>
              </a:ext>
            </a:extLst>
          </p:cNvPr>
          <p:cNvSpPr>
            <a:spLocks noGrp="1" noChangeArrowheads="1"/>
          </p:cNvSpPr>
          <p:nvPr>
            <p:ph idx="1"/>
          </p:nvPr>
        </p:nvSpPr>
        <p:spPr bwMode="auto">
          <a:xfrm>
            <a:off x="281053" y="2187341"/>
            <a:ext cx="11677402" cy="2769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ts val="1800"/>
              </a:spcBef>
              <a:spcAft>
                <a:spcPct val="0"/>
              </a:spcAft>
              <a:buClrTx/>
            </a:pPr>
            <a:r>
              <a:rPr lang="en-IN" sz="2400" cap="none" dirty="0">
                <a:latin typeface="Cochin" panose="02000603020000020003" pitchFamily="2" charset="0"/>
              </a:rPr>
              <a:t>As Fuel Prices And Environmental Concerns Continue To Rise, Optimizing Vehicle Fuel Efficiency Has Become A Crucial Challenge For Automobile Manufacturers. </a:t>
            </a:r>
          </a:p>
          <a:p>
            <a:pPr eaLnBrk="0" fontAlgn="base" hangingPunct="0">
              <a:lnSpc>
                <a:spcPct val="100000"/>
              </a:lnSpc>
              <a:spcBef>
                <a:spcPts val="1800"/>
              </a:spcBef>
              <a:spcAft>
                <a:spcPct val="0"/>
              </a:spcAft>
              <a:buClrTx/>
            </a:pPr>
            <a:r>
              <a:rPr lang="en-IN" sz="2400" cap="none" dirty="0">
                <a:latin typeface="Cochin" panose="02000603020000020003" pitchFamily="2" charset="0"/>
              </a:rPr>
              <a:t>However, Understanding How Different Design And Performance Factors Impact Fuel Efficiency Is Complex. </a:t>
            </a:r>
          </a:p>
          <a:p>
            <a:pPr eaLnBrk="0" fontAlgn="base" hangingPunct="0">
              <a:lnSpc>
                <a:spcPct val="100000"/>
              </a:lnSpc>
              <a:spcBef>
                <a:spcPts val="1800"/>
              </a:spcBef>
              <a:spcAft>
                <a:spcPct val="0"/>
              </a:spcAft>
              <a:buClrTx/>
            </a:pPr>
            <a:r>
              <a:rPr lang="en-IN" sz="2400" cap="none" dirty="0">
                <a:latin typeface="Cochin" panose="02000603020000020003" pitchFamily="2" charset="0"/>
              </a:rPr>
              <a:t>This Project Aims To Solve This Problem By Analyzing Automotive Data To Accurately Predict Fuel Efficiency Based On Vehicle Specifications.</a:t>
            </a:r>
            <a:endParaRPr kumimoji="0" lang="en-US" altLang="en-US" sz="2400" b="0" i="0" u="none" strike="noStrike" cap="none" normalizeH="0" baseline="0" dirty="0">
              <a:ln>
                <a:noFill/>
              </a:ln>
              <a:solidFill>
                <a:srgbClr val="1C1A55"/>
              </a:solidFill>
              <a:effectLst/>
              <a:latin typeface="Cochin" panose="02000603020000020003" pitchFamily="2" charset="0"/>
            </a:endParaRPr>
          </a:p>
        </p:txBody>
      </p:sp>
    </p:spTree>
    <p:extLst>
      <p:ext uri="{BB962C8B-B14F-4D97-AF65-F5344CB8AC3E}">
        <p14:creationId xmlns:p14="http://schemas.microsoft.com/office/powerpoint/2010/main" val="2485958942"/>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8B742-6A90-0AA9-ECE5-B8199A7D5A72}"/>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58296CC-F5D1-E720-EA42-27DD80302E16}"/>
              </a:ext>
            </a:extLst>
          </p:cNvPr>
          <p:cNvSpPr/>
          <p:nvPr/>
        </p:nvSpPr>
        <p:spPr>
          <a:xfrm>
            <a:off x="4026877" y="81320"/>
            <a:ext cx="4185761" cy="830997"/>
          </a:xfrm>
          <a:prstGeom prst="rect">
            <a:avLst/>
          </a:prstGeom>
          <a:noFill/>
        </p:spPr>
        <p:txBody>
          <a:bodyPr wrap="none" lIns="91440" tIns="45720" rIns="91440" bIns="45720">
            <a:spAutoFit/>
          </a:bodyPr>
          <a:lstStyle/>
          <a:p>
            <a:pPr algn="ctr"/>
            <a:r>
              <a:rPr lang="en-US" sz="4800" b="0" cap="none" spc="0" dirty="0">
                <a:ln w="0"/>
                <a:gradFill>
                  <a:gsLst>
                    <a:gs pos="21000">
                      <a:srgbClr val="53575C"/>
                    </a:gs>
                    <a:gs pos="88000">
                      <a:srgbClr val="C5C7CA"/>
                    </a:gs>
                  </a:gsLst>
                  <a:lin ang="5400000"/>
                </a:gradFill>
                <a:effectLst/>
              </a:rPr>
              <a:t>INTRODUCTION</a:t>
            </a:r>
          </a:p>
        </p:txBody>
      </p:sp>
      <p:sp>
        <p:nvSpPr>
          <p:cNvPr id="3" name="Rectangle 2">
            <a:extLst>
              <a:ext uri="{FF2B5EF4-FFF2-40B4-BE49-F238E27FC236}">
                <a16:creationId xmlns:a16="http://schemas.microsoft.com/office/drawing/2014/main" id="{C85418C1-B991-4C2E-84ED-D3563C6C06E7}"/>
              </a:ext>
            </a:extLst>
          </p:cNvPr>
          <p:cNvSpPr>
            <a:spLocks noChangeArrowheads="1"/>
          </p:cNvSpPr>
          <p:nvPr/>
        </p:nvSpPr>
        <p:spPr bwMode="auto">
          <a:xfrm>
            <a:off x="666698" y="821951"/>
            <a:ext cx="10858603" cy="5406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342900" lvl="0" indent="-342900" defTabSz="914400">
              <a:spcBef>
                <a:spcPts val="1000"/>
              </a:spcBef>
              <a:buFont typeface="Arial" panose="020B0604020202020204" pitchFamily="34" charset="0"/>
              <a:buChar char="•"/>
            </a:pPr>
            <a:r>
              <a:rPr lang="en-US" altLang="en-US" sz="2400" dirty="0">
                <a:solidFill>
                  <a:srgbClr val="1C1A55"/>
                </a:solidFill>
                <a:latin typeface="Cochin" panose="02000603020000020003" pitchFamily="2" charset="0"/>
              </a:rPr>
              <a:t>In Today’s Automotive Market, </a:t>
            </a:r>
            <a:r>
              <a:rPr lang="en-US" altLang="en-US" sz="2400" b="1" dirty="0">
                <a:solidFill>
                  <a:srgbClr val="1C1A55"/>
                </a:solidFill>
                <a:latin typeface="Cochin" panose="02000603020000020003" pitchFamily="2" charset="0"/>
              </a:rPr>
              <a:t>Fuel Efficiency</a:t>
            </a:r>
            <a:r>
              <a:rPr lang="en-US" altLang="en-US" sz="2400" dirty="0">
                <a:solidFill>
                  <a:srgbClr val="1C1A55"/>
                </a:solidFill>
                <a:latin typeface="Cochin" panose="02000603020000020003" pitchFamily="2" charset="0"/>
              </a:rPr>
              <a:t> Plays A Vital Role In Determining A Vehicle’s Performance, Market Value, And Environmental Impact. </a:t>
            </a:r>
          </a:p>
          <a:p>
            <a:pPr marL="342900" lvl="0" indent="-342900" defTabSz="914400">
              <a:spcBef>
                <a:spcPts val="1000"/>
              </a:spcBef>
              <a:buFont typeface="Arial" panose="020B0604020202020204" pitchFamily="34" charset="0"/>
              <a:buChar char="•"/>
            </a:pPr>
            <a:r>
              <a:rPr lang="en-US" altLang="en-US" sz="2400" dirty="0">
                <a:solidFill>
                  <a:srgbClr val="1C1A55"/>
                </a:solidFill>
                <a:latin typeface="Cochin" panose="02000603020000020003" pitchFamily="2" charset="0"/>
              </a:rPr>
              <a:t>Rising Fuel Costs And Increasing Awareness Of Carbon Emissions Have Pushed Manufacturers To Focus On Optimizing Fuel Consumption. </a:t>
            </a:r>
          </a:p>
          <a:p>
            <a:pPr marL="342900" lvl="0" indent="-342900" defTabSz="914400">
              <a:spcBef>
                <a:spcPts val="1000"/>
              </a:spcBef>
              <a:buFont typeface="Arial" panose="020B0604020202020204" pitchFamily="34" charset="0"/>
              <a:buChar char="•"/>
            </a:pPr>
            <a:r>
              <a:rPr lang="en-US" altLang="en-US" sz="2400" dirty="0">
                <a:solidFill>
                  <a:srgbClr val="1C1A55"/>
                </a:solidFill>
                <a:latin typeface="Cochin" panose="02000603020000020003" pitchFamily="2" charset="0"/>
              </a:rPr>
              <a:t>However, Fuel Efficiency Depends On Multiple Interacting Factors Such As Engine Power, Vehicle Weight, Acceleration, And Manufacturing Year, Making It Difficult To Estimate Accurately.</a:t>
            </a:r>
          </a:p>
          <a:p>
            <a:pPr marL="342900" lvl="0" indent="-342900" defTabSz="914400">
              <a:spcBef>
                <a:spcPts val="1000"/>
              </a:spcBef>
              <a:buFont typeface="Arial" panose="020B0604020202020204" pitchFamily="34" charset="0"/>
              <a:buChar char="•"/>
            </a:pPr>
            <a:r>
              <a:rPr lang="en-US" altLang="en-US" sz="2400" dirty="0">
                <a:solidFill>
                  <a:srgbClr val="1C1A55"/>
                </a:solidFill>
                <a:latin typeface="Cochin" panose="02000603020000020003" pitchFamily="2" charset="0"/>
              </a:rPr>
              <a:t>This Project Aims To Analyze Historical Automobile Data To Understand The Key Determinants Of Fuel Efficiency And Build A Predictive System That Can Accurately Estimate A Vehicle’s Mpg. </a:t>
            </a:r>
          </a:p>
          <a:p>
            <a:pPr marL="342900" lvl="0" indent="-342900" defTabSz="914400">
              <a:spcBef>
                <a:spcPts val="1000"/>
              </a:spcBef>
              <a:buFont typeface="Arial" panose="020B0604020202020204" pitchFamily="34" charset="0"/>
              <a:buChar char="•"/>
            </a:pPr>
            <a:r>
              <a:rPr lang="en-US" altLang="en-US" sz="2400" dirty="0">
                <a:solidFill>
                  <a:srgbClr val="1C1A55"/>
                </a:solidFill>
                <a:latin typeface="Cochin" panose="02000603020000020003" pitchFamily="2" charset="0"/>
              </a:rPr>
              <a:t>The Insights Gained Can Support Better Vehicle Design, Cost Optimization, And Sustainability Initiatives.</a:t>
            </a:r>
          </a:p>
        </p:txBody>
      </p:sp>
    </p:spTree>
    <p:extLst>
      <p:ext uri="{BB962C8B-B14F-4D97-AF65-F5344CB8AC3E}">
        <p14:creationId xmlns:p14="http://schemas.microsoft.com/office/powerpoint/2010/main" val="2965346497"/>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439C1-67BD-9100-90AE-53FCC7D0EB44}"/>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BF4CDA78-474E-B930-3BA2-3D2AB5B12617}"/>
              </a:ext>
            </a:extLst>
          </p:cNvPr>
          <p:cNvSpPr/>
          <p:nvPr/>
        </p:nvSpPr>
        <p:spPr>
          <a:xfrm>
            <a:off x="3435528" y="-60870"/>
            <a:ext cx="5320944" cy="830997"/>
          </a:xfrm>
          <a:prstGeom prst="rect">
            <a:avLst/>
          </a:prstGeom>
          <a:noFill/>
        </p:spPr>
        <p:txBody>
          <a:bodyPr wrap="none" lIns="91440" tIns="45720" rIns="91440" bIns="45720">
            <a:spAutoFit/>
          </a:bodyPr>
          <a:lstStyle/>
          <a:p>
            <a:pPr algn="ctr"/>
            <a:r>
              <a:rPr lang="en-US" sz="4800" b="0" cap="none" spc="0" dirty="0">
                <a:ln w="0"/>
                <a:gradFill>
                  <a:gsLst>
                    <a:gs pos="21000">
                      <a:srgbClr val="53575C"/>
                    </a:gs>
                    <a:gs pos="88000">
                      <a:srgbClr val="C5C7CA"/>
                    </a:gs>
                  </a:gsLst>
                  <a:lin ang="5400000"/>
                </a:gradFill>
                <a:effectLst/>
              </a:rPr>
              <a:t>DATASET OVERVIEW</a:t>
            </a:r>
          </a:p>
        </p:txBody>
      </p:sp>
      <p:graphicFrame>
        <p:nvGraphicFramePr>
          <p:cNvPr id="2" name="Table 1">
            <a:extLst>
              <a:ext uri="{FF2B5EF4-FFF2-40B4-BE49-F238E27FC236}">
                <a16:creationId xmlns:a16="http://schemas.microsoft.com/office/drawing/2014/main" id="{5B40C3FC-E799-E941-3242-BF7C395D28FA}"/>
              </a:ext>
            </a:extLst>
          </p:cNvPr>
          <p:cNvGraphicFramePr>
            <a:graphicFrameLocks noGrp="1"/>
          </p:cNvGraphicFramePr>
          <p:nvPr>
            <p:extLst>
              <p:ext uri="{D42A27DB-BD31-4B8C-83A1-F6EECF244321}">
                <p14:modId xmlns:p14="http://schemas.microsoft.com/office/powerpoint/2010/main" val="428839774"/>
              </p:ext>
            </p:extLst>
          </p:nvPr>
        </p:nvGraphicFramePr>
        <p:xfrm>
          <a:off x="971848" y="770127"/>
          <a:ext cx="10746910" cy="5421142"/>
        </p:xfrm>
        <a:graphic>
          <a:graphicData uri="http://schemas.openxmlformats.org/drawingml/2006/table">
            <a:tbl>
              <a:tblPr/>
              <a:tblGrid>
                <a:gridCol w="1831510">
                  <a:extLst>
                    <a:ext uri="{9D8B030D-6E8A-4147-A177-3AD203B41FA5}">
                      <a16:colId xmlns:a16="http://schemas.microsoft.com/office/drawing/2014/main" val="136789547"/>
                    </a:ext>
                  </a:extLst>
                </a:gridCol>
                <a:gridCol w="8915400">
                  <a:extLst>
                    <a:ext uri="{9D8B030D-6E8A-4147-A177-3AD203B41FA5}">
                      <a16:colId xmlns:a16="http://schemas.microsoft.com/office/drawing/2014/main" val="4197582891"/>
                    </a:ext>
                  </a:extLst>
                </a:gridCol>
              </a:tblGrid>
              <a:tr h="582002">
                <a:tc>
                  <a:txBody>
                    <a:bodyPr/>
                    <a:lstStyle/>
                    <a:p>
                      <a:pPr>
                        <a:buNone/>
                      </a:pPr>
                      <a:r>
                        <a:rPr lang="en-IN" sz="1700" b="1" dirty="0">
                          <a:solidFill>
                            <a:schemeClr val="tx1"/>
                          </a:solidFill>
                        </a:rPr>
                        <a:t>Column Name</a:t>
                      </a:r>
                      <a:endParaRPr lang="en-IN" sz="1700" dirty="0">
                        <a:solidFill>
                          <a:schemeClr val="tx1"/>
                        </a:solidFill>
                      </a:endParaRPr>
                    </a:p>
                  </a:txBody>
                  <a:tcPr marL="85606" marR="85606" marT="42803" marB="42803" anchor="ctr">
                    <a:lnL>
                      <a:noFill/>
                    </a:lnL>
                    <a:lnR>
                      <a:noFill/>
                    </a:lnR>
                    <a:lnT>
                      <a:noFill/>
                    </a:lnT>
                    <a:lnB>
                      <a:noFill/>
                    </a:lnB>
                    <a:noFill/>
                  </a:tcPr>
                </a:tc>
                <a:tc>
                  <a:txBody>
                    <a:bodyPr/>
                    <a:lstStyle/>
                    <a:p>
                      <a:pPr>
                        <a:buNone/>
                      </a:pPr>
                      <a:r>
                        <a:rPr lang="en-IN" sz="1700" b="1">
                          <a:solidFill>
                            <a:srgbClr val="1C1A55"/>
                          </a:solidFill>
                        </a:rPr>
                        <a:t>Description</a:t>
                      </a:r>
                      <a:endParaRPr lang="en-IN" sz="1700">
                        <a:solidFill>
                          <a:srgbClr val="1C1A55"/>
                        </a:solidFill>
                      </a:endParaRPr>
                    </a:p>
                  </a:txBody>
                  <a:tcPr marL="85606" marR="85606" marT="42803" marB="42803" anchor="ctr">
                    <a:lnL>
                      <a:noFill/>
                    </a:lnL>
                    <a:lnR>
                      <a:noFill/>
                    </a:lnR>
                    <a:lnT>
                      <a:noFill/>
                    </a:lnT>
                    <a:lnB>
                      <a:noFill/>
                    </a:lnB>
                    <a:noFill/>
                  </a:tcPr>
                </a:tc>
                <a:extLst>
                  <a:ext uri="{0D108BD9-81ED-4DB2-BD59-A6C34878D82A}">
                    <a16:rowId xmlns:a16="http://schemas.microsoft.com/office/drawing/2014/main" val="3044366244"/>
                  </a:ext>
                </a:extLst>
              </a:tr>
              <a:tr h="565176">
                <a:tc>
                  <a:txBody>
                    <a:bodyPr/>
                    <a:lstStyle/>
                    <a:p>
                      <a:pPr>
                        <a:buNone/>
                      </a:pPr>
                      <a:r>
                        <a:rPr lang="en-IN" sz="1700" b="1" dirty="0">
                          <a:solidFill>
                            <a:schemeClr val="tx1"/>
                          </a:solidFill>
                        </a:rPr>
                        <a:t>Mpg</a:t>
                      </a:r>
                      <a:endParaRPr lang="en-IN" sz="1700" dirty="0">
                        <a:solidFill>
                          <a:schemeClr val="tx1"/>
                        </a:solidFill>
                      </a:endParaRPr>
                    </a:p>
                  </a:txBody>
                  <a:tcPr marL="85606" marR="85606" marT="42803" marB="42803" anchor="ctr">
                    <a:lnL>
                      <a:noFill/>
                    </a:lnL>
                    <a:lnR>
                      <a:noFill/>
                    </a:lnR>
                    <a:lnT>
                      <a:noFill/>
                    </a:lnT>
                    <a:lnB>
                      <a:noFill/>
                    </a:lnB>
                    <a:noFill/>
                  </a:tcPr>
                </a:tc>
                <a:tc>
                  <a:txBody>
                    <a:bodyPr/>
                    <a:lstStyle/>
                    <a:p>
                      <a:pPr>
                        <a:buNone/>
                      </a:pPr>
                      <a:r>
                        <a:rPr lang="en-IN" sz="1700" dirty="0">
                          <a:solidFill>
                            <a:srgbClr val="1C1A55"/>
                          </a:solidFill>
                        </a:rPr>
                        <a:t>Fuel efficiency (miles per gallon) — </a:t>
                      </a:r>
                      <a:r>
                        <a:rPr lang="en-IN" sz="1700" i="1" dirty="0">
                          <a:solidFill>
                            <a:srgbClr val="1C1A55"/>
                          </a:solidFill>
                        </a:rPr>
                        <a:t>Target variable</a:t>
                      </a:r>
                      <a:endParaRPr lang="en-IN" sz="1700" dirty="0">
                        <a:solidFill>
                          <a:srgbClr val="1C1A55"/>
                        </a:solidFill>
                      </a:endParaRPr>
                    </a:p>
                  </a:txBody>
                  <a:tcPr marL="85606" marR="85606" marT="42803" marB="42803" anchor="ctr">
                    <a:lnL>
                      <a:noFill/>
                    </a:lnL>
                    <a:lnR>
                      <a:noFill/>
                    </a:lnR>
                    <a:lnT>
                      <a:noFill/>
                    </a:lnT>
                    <a:lnB>
                      <a:noFill/>
                    </a:lnB>
                    <a:noFill/>
                  </a:tcPr>
                </a:tc>
                <a:extLst>
                  <a:ext uri="{0D108BD9-81ED-4DB2-BD59-A6C34878D82A}">
                    <a16:rowId xmlns:a16="http://schemas.microsoft.com/office/drawing/2014/main" val="169814834"/>
                  </a:ext>
                </a:extLst>
              </a:tr>
              <a:tr h="572414">
                <a:tc>
                  <a:txBody>
                    <a:bodyPr/>
                    <a:lstStyle/>
                    <a:p>
                      <a:pPr>
                        <a:buNone/>
                      </a:pPr>
                      <a:r>
                        <a:rPr lang="en-IN" sz="1700" b="1" dirty="0">
                          <a:solidFill>
                            <a:schemeClr val="tx1"/>
                          </a:solidFill>
                        </a:rPr>
                        <a:t>Cylinders</a:t>
                      </a:r>
                      <a:endParaRPr lang="en-IN" sz="1700" dirty="0">
                        <a:solidFill>
                          <a:schemeClr val="tx1"/>
                        </a:solidFill>
                      </a:endParaRPr>
                    </a:p>
                  </a:txBody>
                  <a:tcPr marL="85606" marR="85606" marT="42803" marB="42803" anchor="ctr">
                    <a:lnL>
                      <a:noFill/>
                    </a:lnL>
                    <a:lnR>
                      <a:noFill/>
                    </a:lnR>
                    <a:lnT>
                      <a:noFill/>
                    </a:lnT>
                    <a:lnB>
                      <a:noFill/>
                    </a:lnB>
                    <a:noFill/>
                  </a:tcPr>
                </a:tc>
                <a:tc>
                  <a:txBody>
                    <a:bodyPr/>
                    <a:lstStyle/>
                    <a:p>
                      <a:pPr>
                        <a:buNone/>
                      </a:pPr>
                      <a:r>
                        <a:rPr lang="en-IN" sz="1700">
                          <a:solidFill>
                            <a:srgbClr val="1C1A55"/>
                          </a:solidFill>
                        </a:rPr>
                        <a:t>Number of engine cylinders</a:t>
                      </a:r>
                    </a:p>
                  </a:txBody>
                  <a:tcPr marL="85606" marR="85606" marT="42803" marB="42803" anchor="ctr">
                    <a:lnL>
                      <a:noFill/>
                    </a:lnL>
                    <a:lnR>
                      <a:noFill/>
                    </a:lnR>
                    <a:lnT>
                      <a:noFill/>
                    </a:lnT>
                    <a:lnB>
                      <a:noFill/>
                    </a:lnB>
                    <a:noFill/>
                  </a:tcPr>
                </a:tc>
                <a:extLst>
                  <a:ext uri="{0D108BD9-81ED-4DB2-BD59-A6C34878D82A}">
                    <a16:rowId xmlns:a16="http://schemas.microsoft.com/office/drawing/2014/main" val="3746639472"/>
                  </a:ext>
                </a:extLst>
              </a:tr>
              <a:tr h="518176">
                <a:tc>
                  <a:txBody>
                    <a:bodyPr/>
                    <a:lstStyle/>
                    <a:p>
                      <a:pPr>
                        <a:buNone/>
                      </a:pPr>
                      <a:r>
                        <a:rPr lang="en-IN" sz="1700" b="1" dirty="0">
                          <a:solidFill>
                            <a:schemeClr val="tx1"/>
                          </a:solidFill>
                        </a:rPr>
                        <a:t>Displacement</a:t>
                      </a:r>
                      <a:endParaRPr lang="en-IN" sz="1700" dirty="0">
                        <a:solidFill>
                          <a:schemeClr val="tx1"/>
                        </a:solidFill>
                      </a:endParaRPr>
                    </a:p>
                  </a:txBody>
                  <a:tcPr marL="85606" marR="85606" marT="42803" marB="42803" anchor="ctr">
                    <a:lnL>
                      <a:noFill/>
                    </a:lnL>
                    <a:lnR>
                      <a:noFill/>
                    </a:lnR>
                    <a:lnT>
                      <a:noFill/>
                    </a:lnT>
                    <a:lnB>
                      <a:noFill/>
                    </a:lnB>
                    <a:noFill/>
                  </a:tcPr>
                </a:tc>
                <a:tc>
                  <a:txBody>
                    <a:bodyPr/>
                    <a:lstStyle/>
                    <a:p>
                      <a:pPr>
                        <a:buNone/>
                      </a:pPr>
                      <a:r>
                        <a:rPr lang="en-IN" sz="1700">
                          <a:solidFill>
                            <a:srgbClr val="1C1A55"/>
                          </a:solidFill>
                        </a:rPr>
                        <a:t>Engine size or capacity (in cubic inches)</a:t>
                      </a:r>
                    </a:p>
                  </a:txBody>
                  <a:tcPr marL="85606" marR="85606" marT="42803" marB="42803" anchor="ctr">
                    <a:lnL>
                      <a:noFill/>
                    </a:lnL>
                    <a:lnR>
                      <a:noFill/>
                    </a:lnR>
                    <a:lnT>
                      <a:noFill/>
                    </a:lnT>
                    <a:lnB>
                      <a:noFill/>
                    </a:lnB>
                    <a:noFill/>
                  </a:tcPr>
                </a:tc>
                <a:extLst>
                  <a:ext uri="{0D108BD9-81ED-4DB2-BD59-A6C34878D82A}">
                    <a16:rowId xmlns:a16="http://schemas.microsoft.com/office/drawing/2014/main" val="3964216124"/>
                  </a:ext>
                </a:extLst>
              </a:tr>
              <a:tr h="502667">
                <a:tc>
                  <a:txBody>
                    <a:bodyPr/>
                    <a:lstStyle/>
                    <a:p>
                      <a:pPr>
                        <a:buNone/>
                      </a:pPr>
                      <a:r>
                        <a:rPr lang="en-IN" sz="1700" b="1" dirty="0">
                          <a:solidFill>
                            <a:schemeClr val="tx1"/>
                          </a:solidFill>
                        </a:rPr>
                        <a:t>Horsepower</a:t>
                      </a:r>
                      <a:endParaRPr lang="en-IN" sz="1700" dirty="0">
                        <a:solidFill>
                          <a:schemeClr val="tx1"/>
                        </a:solidFill>
                      </a:endParaRPr>
                    </a:p>
                  </a:txBody>
                  <a:tcPr marL="85606" marR="85606" marT="42803" marB="42803" anchor="ctr">
                    <a:lnL>
                      <a:noFill/>
                    </a:lnL>
                    <a:lnR>
                      <a:noFill/>
                    </a:lnR>
                    <a:lnT>
                      <a:noFill/>
                    </a:lnT>
                    <a:lnB>
                      <a:noFill/>
                    </a:lnB>
                    <a:noFill/>
                  </a:tcPr>
                </a:tc>
                <a:tc>
                  <a:txBody>
                    <a:bodyPr/>
                    <a:lstStyle/>
                    <a:p>
                      <a:pPr>
                        <a:buNone/>
                      </a:pPr>
                      <a:r>
                        <a:rPr lang="en-IN" sz="1700" dirty="0">
                          <a:solidFill>
                            <a:srgbClr val="1C1A55"/>
                          </a:solidFill>
                        </a:rPr>
                        <a:t>Engine power output</a:t>
                      </a:r>
                    </a:p>
                  </a:txBody>
                  <a:tcPr marL="85606" marR="85606" marT="42803" marB="42803" anchor="ctr">
                    <a:lnL>
                      <a:noFill/>
                    </a:lnL>
                    <a:lnR>
                      <a:noFill/>
                    </a:lnR>
                    <a:lnT>
                      <a:noFill/>
                    </a:lnT>
                    <a:lnB>
                      <a:noFill/>
                    </a:lnB>
                    <a:noFill/>
                  </a:tcPr>
                </a:tc>
                <a:extLst>
                  <a:ext uri="{0D108BD9-81ED-4DB2-BD59-A6C34878D82A}">
                    <a16:rowId xmlns:a16="http://schemas.microsoft.com/office/drawing/2014/main" val="2622468463"/>
                  </a:ext>
                </a:extLst>
              </a:tr>
              <a:tr h="521936">
                <a:tc>
                  <a:txBody>
                    <a:bodyPr/>
                    <a:lstStyle/>
                    <a:p>
                      <a:pPr>
                        <a:buNone/>
                      </a:pPr>
                      <a:r>
                        <a:rPr lang="en-IN" sz="1700" b="1" dirty="0">
                          <a:solidFill>
                            <a:schemeClr val="tx1"/>
                          </a:solidFill>
                        </a:rPr>
                        <a:t>Weight</a:t>
                      </a:r>
                      <a:endParaRPr lang="en-IN" sz="1700" dirty="0">
                        <a:solidFill>
                          <a:schemeClr val="tx1"/>
                        </a:solidFill>
                      </a:endParaRPr>
                    </a:p>
                  </a:txBody>
                  <a:tcPr marL="85606" marR="85606" marT="42803" marB="42803" anchor="ctr">
                    <a:lnL>
                      <a:noFill/>
                    </a:lnL>
                    <a:lnR>
                      <a:noFill/>
                    </a:lnR>
                    <a:lnT>
                      <a:noFill/>
                    </a:lnT>
                    <a:lnB>
                      <a:noFill/>
                    </a:lnB>
                    <a:noFill/>
                  </a:tcPr>
                </a:tc>
                <a:tc>
                  <a:txBody>
                    <a:bodyPr/>
                    <a:lstStyle/>
                    <a:p>
                      <a:pPr>
                        <a:buNone/>
                      </a:pPr>
                      <a:r>
                        <a:rPr lang="en-IN" sz="1700">
                          <a:solidFill>
                            <a:srgbClr val="1C1A55"/>
                          </a:solidFill>
                        </a:rPr>
                        <a:t>Vehicle weight (in pounds)</a:t>
                      </a:r>
                    </a:p>
                  </a:txBody>
                  <a:tcPr marL="85606" marR="85606" marT="42803" marB="42803" anchor="ctr">
                    <a:lnL>
                      <a:noFill/>
                    </a:lnL>
                    <a:lnR>
                      <a:noFill/>
                    </a:lnR>
                    <a:lnT>
                      <a:noFill/>
                    </a:lnT>
                    <a:lnB>
                      <a:noFill/>
                    </a:lnB>
                    <a:noFill/>
                  </a:tcPr>
                </a:tc>
                <a:extLst>
                  <a:ext uri="{0D108BD9-81ED-4DB2-BD59-A6C34878D82A}">
                    <a16:rowId xmlns:a16="http://schemas.microsoft.com/office/drawing/2014/main" val="676846338"/>
                  </a:ext>
                </a:extLst>
              </a:tr>
              <a:tr h="505111">
                <a:tc>
                  <a:txBody>
                    <a:bodyPr/>
                    <a:lstStyle/>
                    <a:p>
                      <a:pPr>
                        <a:buNone/>
                      </a:pPr>
                      <a:r>
                        <a:rPr lang="en-IN" sz="1700" b="1" dirty="0">
                          <a:solidFill>
                            <a:schemeClr val="tx1"/>
                          </a:solidFill>
                        </a:rPr>
                        <a:t>Acceleration</a:t>
                      </a:r>
                      <a:endParaRPr lang="en-IN" sz="1700" dirty="0">
                        <a:solidFill>
                          <a:schemeClr val="tx1"/>
                        </a:solidFill>
                      </a:endParaRPr>
                    </a:p>
                  </a:txBody>
                  <a:tcPr marL="85606" marR="85606" marT="42803" marB="42803" anchor="ctr">
                    <a:lnL>
                      <a:noFill/>
                    </a:lnL>
                    <a:lnR>
                      <a:noFill/>
                    </a:lnR>
                    <a:lnT>
                      <a:noFill/>
                    </a:lnT>
                    <a:lnB>
                      <a:noFill/>
                    </a:lnB>
                    <a:noFill/>
                  </a:tcPr>
                </a:tc>
                <a:tc>
                  <a:txBody>
                    <a:bodyPr/>
                    <a:lstStyle/>
                    <a:p>
                      <a:pPr>
                        <a:buNone/>
                      </a:pPr>
                      <a:r>
                        <a:rPr lang="en-IN" sz="1700">
                          <a:solidFill>
                            <a:srgbClr val="1C1A55"/>
                          </a:solidFill>
                        </a:rPr>
                        <a:t>Time to accelerate from 0–60 mph (in seconds)</a:t>
                      </a:r>
                    </a:p>
                  </a:txBody>
                  <a:tcPr marL="85606" marR="85606" marT="42803" marB="42803" anchor="ctr">
                    <a:lnL>
                      <a:noFill/>
                    </a:lnL>
                    <a:lnR>
                      <a:noFill/>
                    </a:lnR>
                    <a:lnT>
                      <a:noFill/>
                    </a:lnT>
                    <a:lnB>
                      <a:noFill/>
                    </a:lnB>
                    <a:noFill/>
                  </a:tcPr>
                </a:tc>
                <a:extLst>
                  <a:ext uri="{0D108BD9-81ED-4DB2-BD59-A6C34878D82A}">
                    <a16:rowId xmlns:a16="http://schemas.microsoft.com/office/drawing/2014/main" val="522079057"/>
                  </a:ext>
                </a:extLst>
              </a:tr>
              <a:tr h="526369">
                <a:tc>
                  <a:txBody>
                    <a:bodyPr/>
                    <a:lstStyle/>
                    <a:p>
                      <a:pPr>
                        <a:buNone/>
                      </a:pPr>
                      <a:r>
                        <a:rPr lang="en-IN" sz="1700" b="1" dirty="0">
                          <a:solidFill>
                            <a:schemeClr val="tx1"/>
                          </a:solidFill>
                        </a:rPr>
                        <a:t>Model year</a:t>
                      </a:r>
                      <a:endParaRPr lang="en-IN" sz="1700" dirty="0">
                        <a:solidFill>
                          <a:schemeClr val="tx1"/>
                        </a:solidFill>
                      </a:endParaRPr>
                    </a:p>
                  </a:txBody>
                  <a:tcPr marL="85606" marR="85606" marT="42803" marB="42803" anchor="ctr">
                    <a:lnL>
                      <a:noFill/>
                    </a:lnL>
                    <a:lnR>
                      <a:noFill/>
                    </a:lnR>
                    <a:lnT>
                      <a:noFill/>
                    </a:lnT>
                    <a:lnB>
                      <a:noFill/>
                    </a:lnB>
                    <a:noFill/>
                  </a:tcPr>
                </a:tc>
                <a:tc>
                  <a:txBody>
                    <a:bodyPr/>
                    <a:lstStyle/>
                    <a:p>
                      <a:pPr>
                        <a:buNone/>
                      </a:pPr>
                      <a:r>
                        <a:rPr lang="en-IN" sz="1700">
                          <a:solidFill>
                            <a:srgbClr val="1C1A55"/>
                          </a:solidFill>
                        </a:rPr>
                        <a:t>Year of the car model</a:t>
                      </a:r>
                    </a:p>
                  </a:txBody>
                  <a:tcPr marL="85606" marR="85606" marT="42803" marB="42803" anchor="ctr">
                    <a:lnL>
                      <a:noFill/>
                    </a:lnL>
                    <a:lnR>
                      <a:noFill/>
                    </a:lnR>
                    <a:lnT>
                      <a:noFill/>
                    </a:lnT>
                    <a:lnB>
                      <a:noFill/>
                    </a:lnB>
                    <a:noFill/>
                  </a:tcPr>
                </a:tc>
                <a:extLst>
                  <a:ext uri="{0D108BD9-81ED-4DB2-BD59-A6C34878D82A}">
                    <a16:rowId xmlns:a16="http://schemas.microsoft.com/office/drawing/2014/main" val="1796704073"/>
                  </a:ext>
                </a:extLst>
              </a:tr>
              <a:tr h="531378">
                <a:tc>
                  <a:txBody>
                    <a:bodyPr/>
                    <a:lstStyle/>
                    <a:p>
                      <a:pPr>
                        <a:buNone/>
                      </a:pPr>
                      <a:r>
                        <a:rPr lang="en-IN" sz="1700" b="1" dirty="0">
                          <a:solidFill>
                            <a:schemeClr val="tx1"/>
                          </a:solidFill>
                        </a:rPr>
                        <a:t>Origin</a:t>
                      </a:r>
                      <a:endParaRPr lang="en-IN" sz="1700" dirty="0">
                        <a:solidFill>
                          <a:schemeClr val="tx1"/>
                        </a:solidFill>
                      </a:endParaRPr>
                    </a:p>
                  </a:txBody>
                  <a:tcPr marL="85606" marR="85606" marT="42803" marB="42803" anchor="ctr">
                    <a:lnL>
                      <a:noFill/>
                    </a:lnL>
                    <a:lnR>
                      <a:noFill/>
                    </a:lnR>
                    <a:lnT>
                      <a:noFill/>
                    </a:lnT>
                    <a:lnB>
                      <a:noFill/>
                    </a:lnB>
                    <a:noFill/>
                  </a:tcPr>
                </a:tc>
                <a:tc>
                  <a:txBody>
                    <a:bodyPr/>
                    <a:lstStyle/>
                    <a:p>
                      <a:pPr>
                        <a:buNone/>
                      </a:pPr>
                      <a:r>
                        <a:rPr lang="en-IN" sz="1700" dirty="0">
                          <a:solidFill>
                            <a:srgbClr val="1C1A55"/>
                          </a:solidFill>
                        </a:rPr>
                        <a:t>Region of origin → 1 = USA, 2 = Europe, 3 = Japan</a:t>
                      </a:r>
                    </a:p>
                  </a:txBody>
                  <a:tcPr marL="85606" marR="85606" marT="42803" marB="42803" anchor="ctr">
                    <a:lnL>
                      <a:noFill/>
                    </a:lnL>
                    <a:lnR>
                      <a:noFill/>
                    </a:lnR>
                    <a:lnT>
                      <a:noFill/>
                    </a:lnT>
                    <a:lnB>
                      <a:noFill/>
                    </a:lnB>
                    <a:noFill/>
                  </a:tcPr>
                </a:tc>
                <a:extLst>
                  <a:ext uri="{0D108BD9-81ED-4DB2-BD59-A6C34878D82A}">
                    <a16:rowId xmlns:a16="http://schemas.microsoft.com/office/drawing/2014/main" val="3324369805"/>
                  </a:ext>
                </a:extLst>
              </a:tr>
              <a:tr h="595913">
                <a:tc>
                  <a:txBody>
                    <a:bodyPr/>
                    <a:lstStyle/>
                    <a:p>
                      <a:pPr>
                        <a:buNone/>
                      </a:pPr>
                      <a:r>
                        <a:rPr lang="en-IN" sz="1700" b="1" dirty="0">
                          <a:solidFill>
                            <a:schemeClr val="tx1"/>
                          </a:solidFill>
                        </a:rPr>
                        <a:t>Car name</a:t>
                      </a:r>
                      <a:endParaRPr lang="en-IN" sz="1700" dirty="0">
                        <a:solidFill>
                          <a:schemeClr val="tx1"/>
                        </a:solidFill>
                      </a:endParaRPr>
                    </a:p>
                  </a:txBody>
                  <a:tcPr marL="85606" marR="85606" marT="42803" marB="42803" anchor="ctr">
                    <a:lnL>
                      <a:noFill/>
                    </a:lnL>
                    <a:lnR>
                      <a:noFill/>
                    </a:lnR>
                    <a:lnT>
                      <a:noFill/>
                    </a:lnT>
                    <a:lnB>
                      <a:noFill/>
                    </a:lnB>
                    <a:noFill/>
                  </a:tcPr>
                </a:tc>
                <a:tc>
                  <a:txBody>
                    <a:bodyPr/>
                    <a:lstStyle/>
                    <a:p>
                      <a:pPr>
                        <a:buNone/>
                      </a:pPr>
                      <a:r>
                        <a:rPr lang="en-IN" sz="1700" dirty="0">
                          <a:solidFill>
                            <a:srgbClr val="1C1A55"/>
                          </a:solidFill>
                        </a:rPr>
                        <a:t>Name of the car (dropped for modelling)</a:t>
                      </a:r>
                    </a:p>
                  </a:txBody>
                  <a:tcPr marL="85606" marR="85606" marT="42803" marB="42803" anchor="ctr">
                    <a:lnL>
                      <a:noFill/>
                    </a:lnL>
                    <a:lnR>
                      <a:noFill/>
                    </a:lnR>
                    <a:lnT>
                      <a:noFill/>
                    </a:lnT>
                    <a:lnB>
                      <a:noFill/>
                    </a:lnB>
                    <a:noFill/>
                  </a:tcPr>
                </a:tc>
                <a:extLst>
                  <a:ext uri="{0D108BD9-81ED-4DB2-BD59-A6C34878D82A}">
                    <a16:rowId xmlns:a16="http://schemas.microsoft.com/office/drawing/2014/main" val="1677233244"/>
                  </a:ext>
                </a:extLst>
              </a:tr>
            </a:tbl>
          </a:graphicData>
        </a:graphic>
      </p:graphicFrame>
    </p:spTree>
    <p:extLst>
      <p:ext uri="{BB962C8B-B14F-4D97-AF65-F5344CB8AC3E}">
        <p14:creationId xmlns:p14="http://schemas.microsoft.com/office/powerpoint/2010/main" val="65674395"/>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1F845-BD42-B712-430A-BBD6C099EA0F}"/>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0D388E03-EB5A-B2FD-4CB4-0C99D766F12E}"/>
              </a:ext>
            </a:extLst>
          </p:cNvPr>
          <p:cNvSpPr/>
          <p:nvPr/>
        </p:nvSpPr>
        <p:spPr>
          <a:xfrm>
            <a:off x="2459491" y="-108371"/>
            <a:ext cx="7273017" cy="769441"/>
          </a:xfrm>
          <a:prstGeom prst="rect">
            <a:avLst/>
          </a:prstGeom>
          <a:noFill/>
        </p:spPr>
        <p:txBody>
          <a:bodyPr wrap="none" lIns="91440" tIns="45720" rIns="91440" bIns="45720">
            <a:spAutoFit/>
          </a:bodyPr>
          <a:lstStyle/>
          <a:p>
            <a:pPr algn="ctr"/>
            <a:r>
              <a:rPr lang="en-US" sz="4400" b="0" cap="none" spc="0" dirty="0">
                <a:ln w="0"/>
                <a:gradFill>
                  <a:gsLst>
                    <a:gs pos="21000">
                      <a:srgbClr val="53575C"/>
                    </a:gs>
                    <a:gs pos="88000">
                      <a:srgbClr val="C5C7CA"/>
                    </a:gs>
                  </a:gsLst>
                  <a:lin ang="5400000"/>
                </a:gradFill>
                <a:effectLst/>
              </a:rPr>
              <a:t>EXPLORATORY DATA ANALYSIS</a:t>
            </a:r>
          </a:p>
        </p:txBody>
      </p:sp>
      <p:pic>
        <p:nvPicPr>
          <p:cNvPr id="20" name="Picture 19">
            <a:extLst>
              <a:ext uri="{FF2B5EF4-FFF2-40B4-BE49-F238E27FC236}">
                <a16:creationId xmlns:a16="http://schemas.microsoft.com/office/drawing/2014/main" id="{44FED0C7-BDE4-8F18-FCF9-D915C6253B7B}"/>
              </a:ext>
            </a:extLst>
          </p:cNvPr>
          <p:cNvPicPr>
            <a:picLocks noChangeAspect="1"/>
          </p:cNvPicPr>
          <p:nvPr/>
        </p:nvPicPr>
        <p:blipFill>
          <a:blip r:embed="rId2"/>
          <a:stretch>
            <a:fillRect/>
          </a:stretch>
        </p:blipFill>
        <p:spPr>
          <a:xfrm>
            <a:off x="36096" y="733262"/>
            <a:ext cx="5715000" cy="5270497"/>
          </a:xfrm>
          <a:prstGeom prst="rect">
            <a:avLst/>
          </a:prstGeom>
        </p:spPr>
      </p:pic>
      <p:graphicFrame>
        <p:nvGraphicFramePr>
          <p:cNvPr id="24" name="Table 23">
            <a:extLst>
              <a:ext uri="{FF2B5EF4-FFF2-40B4-BE49-F238E27FC236}">
                <a16:creationId xmlns:a16="http://schemas.microsoft.com/office/drawing/2014/main" id="{3B04D8DA-AC30-0CCA-0EBB-BB3E87D39221}"/>
              </a:ext>
            </a:extLst>
          </p:cNvPr>
          <p:cNvGraphicFramePr>
            <a:graphicFrameLocks noGrp="1"/>
          </p:cNvGraphicFramePr>
          <p:nvPr>
            <p:extLst>
              <p:ext uri="{D42A27DB-BD31-4B8C-83A1-F6EECF244321}">
                <p14:modId xmlns:p14="http://schemas.microsoft.com/office/powerpoint/2010/main" val="3691470685"/>
              </p:ext>
            </p:extLst>
          </p:nvPr>
        </p:nvGraphicFramePr>
        <p:xfrm>
          <a:off x="5907504" y="1154772"/>
          <a:ext cx="6212304" cy="4483751"/>
        </p:xfrm>
        <a:graphic>
          <a:graphicData uri="http://schemas.openxmlformats.org/drawingml/2006/table">
            <a:tbl>
              <a:tblPr>
                <a:tableStyleId>{5940675A-B579-460E-94D1-54222C63F5DA}</a:tableStyleId>
              </a:tblPr>
              <a:tblGrid>
                <a:gridCol w="1878046">
                  <a:extLst>
                    <a:ext uri="{9D8B030D-6E8A-4147-A177-3AD203B41FA5}">
                      <a16:colId xmlns:a16="http://schemas.microsoft.com/office/drawing/2014/main" val="2233560040"/>
                    </a:ext>
                  </a:extLst>
                </a:gridCol>
                <a:gridCol w="1502828">
                  <a:extLst>
                    <a:ext uri="{9D8B030D-6E8A-4147-A177-3AD203B41FA5}">
                      <a16:colId xmlns:a16="http://schemas.microsoft.com/office/drawing/2014/main" val="2558443683"/>
                    </a:ext>
                  </a:extLst>
                </a:gridCol>
                <a:gridCol w="2831430">
                  <a:extLst>
                    <a:ext uri="{9D8B030D-6E8A-4147-A177-3AD203B41FA5}">
                      <a16:colId xmlns:a16="http://schemas.microsoft.com/office/drawing/2014/main" val="3208247984"/>
                    </a:ext>
                  </a:extLst>
                </a:gridCol>
              </a:tblGrid>
              <a:tr h="926695">
                <a:tc>
                  <a:txBody>
                    <a:bodyPr/>
                    <a:lstStyle/>
                    <a:p>
                      <a:pPr algn="ctr">
                        <a:buNone/>
                      </a:pPr>
                      <a:r>
                        <a:rPr lang="en-IN" b="1" dirty="0">
                          <a:solidFill>
                            <a:schemeClr val="tx1"/>
                          </a:solidFill>
                        </a:rPr>
                        <a:t>Feature</a:t>
                      </a:r>
                    </a:p>
                  </a:txBody>
                  <a:tcPr anchor="ctr"/>
                </a:tc>
                <a:tc>
                  <a:txBody>
                    <a:bodyPr/>
                    <a:lstStyle/>
                    <a:p>
                      <a:pPr algn="ctr">
                        <a:buNone/>
                      </a:pPr>
                      <a:r>
                        <a:rPr lang="en-IN" b="1" dirty="0">
                          <a:solidFill>
                            <a:schemeClr val="tx1"/>
                          </a:solidFill>
                        </a:rPr>
                        <a:t>Correlation With MPG</a:t>
                      </a:r>
                    </a:p>
                  </a:txBody>
                  <a:tcPr anchor="ctr"/>
                </a:tc>
                <a:tc>
                  <a:txBody>
                    <a:bodyPr/>
                    <a:lstStyle/>
                    <a:p>
                      <a:pPr algn="ctr">
                        <a:buNone/>
                      </a:pPr>
                      <a:r>
                        <a:rPr lang="en-IN" b="1" dirty="0">
                          <a:solidFill>
                            <a:schemeClr val="tx1"/>
                          </a:solidFill>
                        </a:rPr>
                        <a:t>Insight</a:t>
                      </a:r>
                    </a:p>
                  </a:txBody>
                  <a:tcPr anchor="ctr"/>
                </a:tc>
                <a:extLst>
                  <a:ext uri="{0D108BD9-81ED-4DB2-BD59-A6C34878D82A}">
                    <a16:rowId xmlns:a16="http://schemas.microsoft.com/office/drawing/2014/main" val="1701197060"/>
                  </a:ext>
                </a:extLst>
              </a:tr>
              <a:tr h="864128">
                <a:tc>
                  <a:txBody>
                    <a:bodyPr/>
                    <a:lstStyle/>
                    <a:p>
                      <a:pPr>
                        <a:buNone/>
                      </a:pPr>
                      <a:r>
                        <a:rPr lang="en-IN" b="0" dirty="0">
                          <a:solidFill>
                            <a:schemeClr val="tx1"/>
                          </a:solidFill>
                          <a:latin typeface="Cochin" panose="02000603020000020003" pitchFamily="2" charset="0"/>
                        </a:rPr>
                        <a:t>Weight</a:t>
                      </a:r>
                    </a:p>
                  </a:txBody>
                  <a:tcPr anchor="ctr"/>
                </a:tc>
                <a:tc>
                  <a:txBody>
                    <a:bodyPr/>
                    <a:lstStyle/>
                    <a:p>
                      <a:pPr algn="ctr">
                        <a:buNone/>
                      </a:pPr>
                      <a:r>
                        <a:rPr lang="en-IN" b="1" dirty="0">
                          <a:solidFill>
                            <a:schemeClr val="tx1"/>
                          </a:solidFill>
                          <a:latin typeface="Cochin" panose="02000603020000020003" pitchFamily="2" charset="0"/>
                        </a:rPr>
                        <a:t>–0.83</a:t>
                      </a:r>
                      <a:endParaRPr lang="en-IN" dirty="0">
                        <a:solidFill>
                          <a:schemeClr val="tx1"/>
                        </a:solidFill>
                        <a:latin typeface="Cochin" panose="02000603020000020003" pitchFamily="2" charset="0"/>
                      </a:endParaRPr>
                    </a:p>
                  </a:txBody>
                  <a:tcPr anchor="ctr"/>
                </a:tc>
                <a:tc>
                  <a:txBody>
                    <a:bodyPr/>
                    <a:lstStyle/>
                    <a:p>
                      <a:pPr>
                        <a:buNone/>
                      </a:pPr>
                      <a:r>
                        <a:rPr lang="en-IN" dirty="0">
                          <a:solidFill>
                            <a:schemeClr val="tx1"/>
                          </a:solidFill>
                          <a:latin typeface="Cochin" panose="02000603020000020003" pitchFamily="2" charset="0"/>
                        </a:rPr>
                        <a:t>Heavier Cars Have </a:t>
                      </a:r>
                      <a:r>
                        <a:rPr lang="en-IN" b="1" dirty="0">
                          <a:solidFill>
                            <a:schemeClr val="tx1"/>
                          </a:solidFill>
                          <a:latin typeface="Cochin" panose="02000603020000020003" pitchFamily="2" charset="0"/>
                        </a:rPr>
                        <a:t>Lower Fuel Efficiency</a:t>
                      </a:r>
                      <a:r>
                        <a:rPr lang="en-IN" dirty="0">
                          <a:solidFill>
                            <a:schemeClr val="tx1"/>
                          </a:solidFill>
                          <a:latin typeface="Cochin" panose="02000603020000020003" pitchFamily="2" charset="0"/>
                        </a:rPr>
                        <a:t>.</a:t>
                      </a:r>
                    </a:p>
                  </a:txBody>
                  <a:tcPr anchor="ctr"/>
                </a:tc>
                <a:extLst>
                  <a:ext uri="{0D108BD9-81ED-4DB2-BD59-A6C34878D82A}">
                    <a16:rowId xmlns:a16="http://schemas.microsoft.com/office/drawing/2014/main" val="3515683027"/>
                  </a:ext>
                </a:extLst>
              </a:tr>
              <a:tr h="864128">
                <a:tc>
                  <a:txBody>
                    <a:bodyPr/>
                    <a:lstStyle/>
                    <a:p>
                      <a:pPr>
                        <a:buNone/>
                      </a:pPr>
                      <a:r>
                        <a:rPr lang="en-IN" b="0" dirty="0">
                          <a:solidFill>
                            <a:schemeClr val="tx1"/>
                          </a:solidFill>
                          <a:latin typeface="Cochin" panose="02000603020000020003" pitchFamily="2" charset="0"/>
                        </a:rPr>
                        <a:t>Displacement</a:t>
                      </a:r>
                    </a:p>
                  </a:txBody>
                  <a:tcPr anchor="ctr"/>
                </a:tc>
                <a:tc>
                  <a:txBody>
                    <a:bodyPr/>
                    <a:lstStyle/>
                    <a:p>
                      <a:pPr algn="ctr">
                        <a:buNone/>
                      </a:pPr>
                      <a:r>
                        <a:rPr lang="en-IN" b="1" dirty="0">
                          <a:solidFill>
                            <a:schemeClr val="tx1"/>
                          </a:solidFill>
                          <a:latin typeface="Cochin" panose="02000603020000020003" pitchFamily="2" charset="0"/>
                        </a:rPr>
                        <a:t>–0.81</a:t>
                      </a:r>
                      <a:endParaRPr lang="en-IN" dirty="0">
                        <a:solidFill>
                          <a:schemeClr val="tx1"/>
                        </a:solidFill>
                        <a:latin typeface="Cochin" panose="02000603020000020003" pitchFamily="2" charset="0"/>
                      </a:endParaRPr>
                    </a:p>
                  </a:txBody>
                  <a:tcPr anchor="ctr"/>
                </a:tc>
                <a:tc>
                  <a:txBody>
                    <a:bodyPr/>
                    <a:lstStyle/>
                    <a:p>
                      <a:pPr algn="l">
                        <a:buNone/>
                      </a:pPr>
                      <a:r>
                        <a:rPr lang="en-IN" dirty="0">
                          <a:solidFill>
                            <a:schemeClr val="tx1"/>
                          </a:solidFill>
                          <a:latin typeface="Cochin" panose="02000603020000020003" pitchFamily="2" charset="0"/>
                        </a:rPr>
                        <a:t>Larger Engines Consume </a:t>
                      </a:r>
                      <a:r>
                        <a:rPr lang="en-IN" b="1" dirty="0">
                          <a:solidFill>
                            <a:schemeClr val="tx1"/>
                          </a:solidFill>
                          <a:latin typeface="Cochin" panose="02000603020000020003" pitchFamily="2" charset="0"/>
                        </a:rPr>
                        <a:t>More Fuel</a:t>
                      </a:r>
                      <a:r>
                        <a:rPr lang="en-IN" dirty="0">
                          <a:solidFill>
                            <a:schemeClr val="tx1"/>
                          </a:solidFill>
                          <a:latin typeface="Cochin" panose="02000603020000020003" pitchFamily="2" charset="0"/>
                        </a:rPr>
                        <a:t>, Reducing MPG.</a:t>
                      </a:r>
                    </a:p>
                  </a:txBody>
                  <a:tcPr anchor="ctr"/>
                </a:tc>
                <a:extLst>
                  <a:ext uri="{0D108BD9-81ED-4DB2-BD59-A6C34878D82A}">
                    <a16:rowId xmlns:a16="http://schemas.microsoft.com/office/drawing/2014/main" val="3970622622"/>
                  </a:ext>
                </a:extLst>
              </a:tr>
              <a:tr h="864128">
                <a:tc>
                  <a:txBody>
                    <a:bodyPr/>
                    <a:lstStyle/>
                    <a:p>
                      <a:pPr>
                        <a:buNone/>
                      </a:pPr>
                      <a:r>
                        <a:rPr lang="en-IN" b="0" dirty="0">
                          <a:solidFill>
                            <a:schemeClr val="tx1"/>
                          </a:solidFill>
                          <a:latin typeface="Cochin" panose="02000603020000020003" pitchFamily="2" charset="0"/>
                        </a:rPr>
                        <a:t>Cylinders</a:t>
                      </a:r>
                    </a:p>
                  </a:txBody>
                  <a:tcPr anchor="ctr"/>
                </a:tc>
                <a:tc>
                  <a:txBody>
                    <a:bodyPr/>
                    <a:lstStyle/>
                    <a:p>
                      <a:pPr algn="ctr">
                        <a:buNone/>
                      </a:pPr>
                      <a:r>
                        <a:rPr lang="en-IN" b="1" dirty="0">
                          <a:solidFill>
                            <a:schemeClr val="tx1"/>
                          </a:solidFill>
                          <a:latin typeface="Cochin" panose="02000603020000020003" pitchFamily="2" charset="0"/>
                        </a:rPr>
                        <a:t>–0.78</a:t>
                      </a:r>
                      <a:endParaRPr lang="en-IN" dirty="0">
                        <a:solidFill>
                          <a:schemeClr val="tx1"/>
                        </a:solidFill>
                        <a:latin typeface="Cochin" panose="02000603020000020003" pitchFamily="2" charset="0"/>
                      </a:endParaRPr>
                    </a:p>
                  </a:txBody>
                  <a:tcPr anchor="ctr"/>
                </a:tc>
                <a:tc>
                  <a:txBody>
                    <a:bodyPr/>
                    <a:lstStyle/>
                    <a:p>
                      <a:pPr>
                        <a:buNone/>
                      </a:pPr>
                      <a:r>
                        <a:rPr lang="en-IN" dirty="0">
                          <a:solidFill>
                            <a:schemeClr val="tx1"/>
                          </a:solidFill>
                          <a:latin typeface="Cochin" panose="02000603020000020003" pitchFamily="2" charset="0"/>
                        </a:rPr>
                        <a:t>Cars With More Cylinders Are Generally </a:t>
                      </a:r>
                      <a:r>
                        <a:rPr lang="en-IN" b="1" dirty="0">
                          <a:solidFill>
                            <a:schemeClr val="tx1"/>
                          </a:solidFill>
                          <a:latin typeface="Cochin" panose="02000603020000020003" pitchFamily="2" charset="0"/>
                        </a:rPr>
                        <a:t>Less Fuel-efficient</a:t>
                      </a:r>
                      <a:r>
                        <a:rPr lang="en-IN" dirty="0">
                          <a:solidFill>
                            <a:schemeClr val="tx1"/>
                          </a:solidFill>
                          <a:latin typeface="Cochin" panose="02000603020000020003" pitchFamily="2" charset="0"/>
                        </a:rPr>
                        <a:t>.</a:t>
                      </a:r>
                    </a:p>
                  </a:txBody>
                  <a:tcPr anchor="ctr"/>
                </a:tc>
                <a:extLst>
                  <a:ext uri="{0D108BD9-81ED-4DB2-BD59-A6C34878D82A}">
                    <a16:rowId xmlns:a16="http://schemas.microsoft.com/office/drawing/2014/main" val="1297124407"/>
                  </a:ext>
                </a:extLst>
              </a:tr>
              <a:tr h="864128">
                <a:tc>
                  <a:txBody>
                    <a:bodyPr/>
                    <a:lstStyle/>
                    <a:p>
                      <a:pPr>
                        <a:buNone/>
                      </a:pPr>
                      <a:r>
                        <a:rPr lang="en-IN" b="0" dirty="0">
                          <a:solidFill>
                            <a:schemeClr val="tx1"/>
                          </a:solidFill>
                          <a:latin typeface="Cochin" panose="02000603020000020003" pitchFamily="2" charset="0"/>
                        </a:rPr>
                        <a:t>Horsepower</a:t>
                      </a:r>
                    </a:p>
                  </a:txBody>
                  <a:tcPr anchor="ctr"/>
                </a:tc>
                <a:tc>
                  <a:txBody>
                    <a:bodyPr/>
                    <a:lstStyle/>
                    <a:p>
                      <a:pPr algn="ctr">
                        <a:buNone/>
                      </a:pPr>
                      <a:r>
                        <a:rPr lang="en-IN" b="1" dirty="0">
                          <a:solidFill>
                            <a:schemeClr val="tx1"/>
                          </a:solidFill>
                          <a:latin typeface="Cochin" panose="02000603020000020003" pitchFamily="2" charset="0"/>
                        </a:rPr>
                        <a:t>–0.78</a:t>
                      </a:r>
                      <a:endParaRPr lang="en-IN" dirty="0">
                        <a:solidFill>
                          <a:schemeClr val="tx1"/>
                        </a:solidFill>
                        <a:latin typeface="Cochin" panose="02000603020000020003" pitchFamily="2" charset="0"/>
                      </a:endParaRPr>
                    </a:p>
                  </a:txBody>
                  <a:tcPr anchor="ctr"/>
                </a:tc>
                <a:tc>
                  <a:txBody>
                    <a:bodyPr/>
                    <a:lstStyle/>
                    <a:p>
                      <a:pPr>
                        <a:buNone/>
                      </a:pPr>
                      <a:r>
                        <a:rPr lang="en-IN" dirty="0">
                          <a:solidFill>
                            <a:schemeClr val="tx1"/>
                          </a:solidFill>
                          <a:latin typeface="Cochin" panose="02000603020000020003" pitchFamily="2" charset="0"/>
                        </a:rPr>
                        <a:t>High Engine Power Leads To </a:t>
                      </a:r>
                      <a:r>
                        <a:rPr lang="en-IN" b="1" dirty="0">
                          <a:solidFill>
                            <a:schemeClr val="tx1"/>
                          </a:solidFill>
                          <a:latin typeface="Cochin" panose="02000603020000020003" pitchFamily="2" charset="0"/>
                        </a:rPr>
                        <a:t>Higher Fuel Use</a:t>
                      </a:r>
                      <a:r>
                        <a:rPr lang="en-IN" dirty="0">
                          <a:solidFill>
                            <a:schemeClr val="tx1"/>
                          </a:solidFill>
                          <a:latin typeface="Cochin" panose="02000603020000020003" pitchFamily="2" charset="0"/>
                        </a:rPr>
                        <a:t>.</a:t>
                      </a:r>
                    </a:p>
                  </a:txBody>
                  <a:tcPr anchor="ctr"/>
                </a:tc>
                <a:extLst>
                  <a:ext uri="{0D108BD9-81ED-4DB2-BD59-A6C34878D82A}">
                    <a16:rowId xmlns:a16="http://schemas.microsoft.com/office/drawing/2014/main" val="4252289836"/>
                  </a:ext>
                </a:extLst>
              </a:tr>
            </a:tbl>
          </a:graphicData>
        </a:graphic>
      </p:graphicFrame>
    </p:spTree>
    <p:extLst>
      <p:ext uri="{BB962C8B-B14F-4D97-AF65-F5344CB8AC3E}">
        <p14:creationId xmlns:p14="http://schemas.microsoft.com/office/powerpoint/2010/main" val="1781945109"/>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0AEB099-20C7-ABF0-218F-1D28A43CAD8D}"/>
              </a:ext>
            </a:extLst>
          </p:cNvPr>
          <p:cNvPicPr>
            <a:picLocks noChangeAspect="1"/>
          </p:cNvPicPr>
          <p:nvPr/>
        </p:nvPicPr>
        <p:blipFill>
          <a:blip r:embed="rId2"/>
          <a:stretch>
            <a:fillRect/>
          </a:stretch>
        </p:blipFill>
        <p:spPr>
          <a:xfrm>
            <a:off x="2791472" y="144382"/>
            <a:ext cx="6609055" cy="4475747"/>
          </a:xfrm>
          <a:prstGeom prst="rect">
            <a:avLst/>
          </a:prstGeom>
        </p:spPr>
      </p:pic>
      <p:sp>
        <p:nvSpPr>
          <p:cNvPr id="6" name="TextBox 5">
            <a:extLst>
              <a:ext uri="{FF2B5EF4-FFF2-40B4-BE49-F238E27FC236}">
                <a16:creationId xmlns:a16="http://schemas.microsoft.com/office/drawing/2014/main" id="{1564DF5D-86CC-7C13-E70E-F3022AA210A9}"/>
              </a:ext>
            </a:extLst>
          </p:cNvPr>
          <p:cNvSpPr txBox="1"/>
          <p:nvPr/>
        </p:nvSpPr>
        <p:spPr>
          <a:xfrm>
            <a:off x="-1" y="4711787"/>
            <a:ext cx="12192000" cy="1862048"/>
          </a:xfrm>
          <a:prstGeom prst="rect">
            <a:avLst/>
          </a:prstGeom>
          <a:noFill/>
        </p:spPr>
        <p:txBody>
          <a:bodyPr wrap="square" rtlCol="0">
            <a:spAutoFit/>
          </a:bodyPr>
          <a:lstStyle/>
          <a:p>
            <a:pPr lvl="0" defTabSz="914400" eaLnBrk="0" fontAlgn="base" hangingPunct="0">
              <a:spcBef>
                <a:spcPts val="1000"/>
              </a:spcBef>
              <a:spcAft>
                <a:spcPct val="0"/>
              </a:spcAft>
              <a:buFontTx/>
              <a:buChar char="•"/>
            </a:pPr>
            <a:r>
              <a:rPr lang="en-US" altLang="en-US" b="1" dirty="0">
                <a:solidFill>
                  <a:srgbClr val="1C1A55"/>
                </a:solidFill>
                <a:latin typeface="Cochin" panose="02000603020000020003" pitchFamily="2" charset="0"/>
              </a:rPr>
              <a:t>High-horsepower Vehicles</a:t>
            </a:r>
            <a:r>
              <a:rPr lang="en-US" altLang="en-US" dirty="0">
                <a:solidFill>
                  <a:srgbClr val="1C1A55"/>
                </a:solidFill>
                <a:latin typeface="Cochin" panose="02000603020000020003" pitchFamily="2" charset="0"/>
              </a:rPr>
              <a:t> (Powerful Engines) Tend To Consume </a:t>
            </a:r>
            <a:r>
              <a:rPr lang="en-US" altLang="en-US" b="1" dirty="0">
                <a:solidFill>
                  <a:srgbClr val="1C1A55"/>
                </a:solidFill>
                <a:latin typeface="Cochin" panose="02000603020000020003" pitchFamily="2" charset="0"/>
              </a:rPr>
              <a:t>More Fuel</a:t>
            </a:r>
            <a:r>
              <a:rPr lang="en-US" altLang="en-US" dirty="0">
                <a:solidFill>
                  <a:srgbClr val="1C1A55"/>
                </a:solidFill>
                <a:latin typeface="Cochin" panose="02000603020000020003" pitchFamily="2" charset="0"/>
              </a:rPr>
              <a:t>, Resulting In </a:t>
            </a:r>
            <a:r>
              <a:rPr lang="en-US" altLang="en-US" b="1" dirty="0">
                <a:solidFill>
                  <a:srgbClr val="1C1A55"/>
                </a:solidFill>
                <a:latin typeface="Cochin" panose="02000603020000020003" pitchFamily="2" charset="0"/>
              </a:rPr>
              <a:t>Lower MPG</a:t>
            </a:r>
            <a:r>
              <a:rPr lang="en-US" altLang="en-US" dirty="0">
                <a:solidFill>
                  <a:srgbClr val="1C1A55"/>
                </a:solidFill>
                <a:latin typeface="Cochin" panose="02000603020000020003" pitchFamily="2" charset="0"/>
              </a:rPr>
              <a:t>.</a:t>
            </a:r>
          </a:p>
          <a:p>
            <a:pPr lvl="0" defTabSz="914400" eaLnBrk="0" fontAlgn="base" hangingPunct="0">
              <a:spcBef>
                <a:spcPts val="1000"/>
              </a:spcBef>
              <a:spcAft>
                <a:spcPct val="0"/>
              </a:spcAft>
              <a:buFontTx/>
              <a:buChar char="•"/>
            </a:pPr>
            <a:r>
              <a:rPr lang="en-US" altLang="en-US" b="1" dirty="0">
                <a:solidFill>
                  <a:srgbClr val="1C1A55"/>
                </a:solidFill>
                <a:latin typeface="Cochin" panose="02000603020000020003" pitchFamily="2" charset="0"/>
              </a:rPr>
              <a:t>Low-horsepower Vehicles</a:t>
            </a:r>
            <a:r>
              <a:rPr lang="en-US" altLang="en-US" dirty="0">
                <a:solidFill>
                  <a:srgbClr val="1C1A55"/>
                </a:solidFill>
                <a:latin typeface="Cochin" panose="02000603020000020003" pitchFamily="2" charset="0"/>
              </a:rPr>
              <a:t>, Often Smaller Or Lighter, Achieve </a:t>
            </a:r>
            <a:r>
              <a:rPr lang="en-US" altLang="en-US" b="1" dirty="0">
                <a:solidFill>
                  <a:srgbClr val="1C1A55"/>
                </a:solidFill>
                <a:latin typeface="Cochin" panose="02000603020000020003" pitchFamily="2" charset="0"/>
              </a:rPr>
              <a:t>Higher Fuel Efficiency</a:t>
            </a:r>
            <a:r>
              <a:rPr lang="en-US" altLang="en-US" dirty="0">
                <a:solidFill>
                  <a:srgbClr val="1C1A55"/>
                </a:solidFill>
                <a:latin typeface="Cochin" panose="02000603020000020003" pitchFamily="2" charset="0"/>
              </a:rPr>
              <a:t>.</a:t>
            </a:r>
          </a:p>
          <a:p>
            <a:pPr lvl="0" defTabSz="914400" eaLnBrk="0" fontAlgn="base" hangingPunct="0">
              <a:spcBef>
                <a:spcPts val="1000"/>
              </a:spcBef>
              <a:spcAft>
                <a:spcPct val="0"/>
              </a:spcAft>
              <a:buFontTx/>
              <a:buChar char="•"/>
            </a:pPr>
            <a:r>
              <a:rPr lang="en-US" altLang="en-US" dirty="0">
                <a:solidFill>
                  <a:srgbClr val="1C1A55"/>
                </a:solidFill>
                <a:latin typeface="Cochin" panose="02000603020000020003" pitchFamily="2" charset="0"/>
              </a:rPr>
              <a:t>The Relationship Is </a:t>
            </a:r>
            <a:r>
              <a:rPr lang="en-US" altLang="en-US" b="1" dirty="0">
                <a:solidFill>
                  <a:srgbClr val="1C1A55"/>
                </a:solidFill>
                <a:latin typeface="Cochin" panose="02000603020000020003" pitchFamily="2" charset="0"/>
              </a:rPr>
              <a:t>Non-linear</a:t>
            </a:r>
            <a:r>
              <a:rPr lang="en-US" altLang="en-US" dirty="0">
                <a:solidFill>
                  <a:srgbClr val="1C1A55"/>
                </a:solidFill>
                <a:latin typeface="Cochin" panose="02000603020000020003" pitchFamily="2" charset="0"/>
              </a:rPr>
              <a:t> — The Drop In Mpg Is Sharper For The Lower Range Of Horsepower And Then Gradually      Flattens For High Values.</a:t>
            </a:r>
          </a:p>
          <a:p>
            <a:pPr>
              <a:spcBef>
                <a:spcPts val="1000"/>
              </a:spcBef>
            </a:pPr>
            <a:endParaRPr lang="en-US" dirty="0">
              <a:solidFill>
                <a:srgbClr val="1C1A55"/>
              </a:solidFill>
              <a:latin typeface="Cochin" panose="02000603020000020003" pitchFamily="2" charset="0"/>
            </a:endParaRPr>
          </a:p>
        </p:txBody>
      </p:sp>
    </p:spTree>
    <p:extLst>
      <p:ext uri="{BB962C8B-B14F-4D97-AF65-F5344CB8AC3E}">
        <p14:creationId xmlns:p14="http://schemas.microsoft.com/office/powerpoint/2010/main" val="3145390873"/>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91E40-63EA-D024-D352-106664A0E49C}"/>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C34716B5-6E85-CB25-BB0B-9CAA626C0CEA}"/>
              </a:ext>
            </a:extLst>
          </p:cNvPr>
          <p:cNvSpPr/>
          <p:nvPr/>
        </p:nvSpPr>
        <p:spPr>
          <a:xfrm>
            <a:off x="557977" y="-47500"/>
            <a:ext cx="11076045" cy="707886"/>
          </a:xfrm>
          <a:prstGeom prst="rect">
            <a:avLst/>
          </a:prstGeom>
          <a:noFill/>
        </p:spPr>
        <p:txBody>
          <a:bodyPr wrap="none" lIns="91440" tIns="45720" rIns="91440" bIns="45720">
            <a:spAutoFit/>
          </a:bodyPr>
          <a:lstStyle/>
          <a:p>
            <a:pPr algn="ctr"/>
            <a:r>
              <a:rPr lang="en-US" sz="4000" cap="none" spc="0" dirty="0">
                <a:ln w="0"/>
                <a:gradFill>
                  <a:gsLst>
                    <a:gs pos="21000">
                      <a:srgbClr val="53575C"/>
                    </a:gs>
                    <a:gs pos="88000">
                      <a:srgbClr val="C5C7CA"/>
                    </a:gs>
                  </a:gsLst>
                  <a:lin ang="5400000"/>
                </a:gradFill>
                <a:effectLst/>
              </a:rPr>
              <a:t>DATA PREPROCESSING AND FEATURE ENGINEERING</a:t>
            </a:r>
          </a:p>
        </p:txBody>
      </p:sp>
      <p:sp>
        <p:nvSpPr>
          <p:cNvPr id="22" name="Rectangle 2">
            <a:extLst>
              <a:ext uri="{FF2B5EF4-FFF2-40B4-BE49-F238E27FC236}">
                <a16:creationId xmlns:a16="http://schemas.microsoft.com/office/drawing/2014/main" id="{1AAAB232-03CB-9C87-159E-105997F3ABCB}"/>
              </a:ext>
            </a:extLst>
          </p:cNvPr>
          <p:cNvSpPr>
            <a:spLocks noChangeArrowheads="1"/>
          </p:cNvSpPr>
          <p:nvPr/>
        </p:nvSpPr>
        <p:spPr bwMode="auto">
          <a:xfrm>
            <a:off x="478970" y="1245905"/>
            <a:ext cx="11234057" cy="46730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defTabSz="914400">
              <a:spcBef>
                <a:spcPts val="1400"/>
              </a:spcBef>
            </a:pPr>
            <a:endParaRPr lang="en-US" altLang="en-US" sz="2400" dirty="0">
              <a:latin typeface="Cochin" panose="02000603020000020003" pitchFamily="2" charset="0"/>
            </a:endParaRPr>
          </a:p>
          <a:p>
            <a:pPr lvl="0" defTabSz="914400">
              <a:spcBef>
                <a:spcPts val="1400"/>
              </a:spcBef>
              <a:buFontTx/>
              <a:buChar char="•"/>
            </a:pPr>
            <a:r>
              <a:rPr lang="en-US" altLang="en-US" sz="2400" dirty="0">
                <a:solidFill>
                  <a:srgbClr val="000000"/>
                </a:solidFill>
                <a:latin typeface="Cochin" panose="02000603020000020003" pitchFamily="2" charset="0"/>
              </a:rPr>
              <a:t>Loaded Dataset And Inspected Data Types, Null Values, And Structure.</a:t>
            </a:r>
          </a:p>
          <a:p>
            <a:pPr lvl="0" defTabSz="914400">
              <a:spcBef>
                <a:spcPts val="1400"/>
              </a:spcBef>
              <a:buFontTx/>
              <a:buChar char="•"/>
            </a:pPr>
            <a:r>
              <a:rPr lang="en-US" altLang="en-US" sz="2400" dirty="0">
                <a:solidFill>
                  <a:srgbClr val="000000"/>
                </a:solidFill>
                <a:latin typeface="Cochin" panose="02000603020000020003" pitchFamily="2" charset="0"/>
              </a:rPr>
              <a:t>Converted </a:t>
            </a:r>
            <a:r>
              <a:rPr lang="en-US" altLang="en-US" sz="2400" b="1" dirty="0">
                <a:solidFill>
                  <a:srgbClr val="000000"/>
                </a:solidFill>
                <a:latin typeface="Cochin" panose="02000603020000020003" pitchFamily="2" charset="0"/>
              </a:rPr>
              <a:t>Horsepower</a:t>
            </a:r>
            <a:r>
              <a:rPr lang="en-US" altLang="en-US" sz="2400" dirty="0">
                <a:solidFill>
                  <a:srgbClr val="000000"/>
                </a:solidFill>
                <a:latin typeface="Cochin" panose="02000603020000020003" pitchFamily="2" charset="0"/>
              </a:rPr>
              <a:t> Column To Numeric Format.</a:t>
            </a:r>
          </a:p>
          <a:p>
            <a:pPr lvl="0" defTabSz="914400">
              <a:spcBef>
                <a:spcPts val="1400"/>
              </a:spcBef>
              <a:buFontTx/>
              <a:buChar char="•"/>
            </a:pPr>
            <a:r>
              <a:rPr lang="en-US" altLang="en-US" sz="2400" dirty="0">
                <a:solidFill>
                  <a:srgbClr val="000000"/>
                </a:solidFill>
                <a:latin typeface="Cochin" panose="02000603020000020003" pitchFamily="2" charset="0"/>
              </a:rPr>
              <a:t>Dropped </a:t>
            </a:r>
            <a:r>
              <a:rPr lang="en-US" altLang="en-US" sz="2400" b="1" dirty="0">
                <a:solidFill>
                  <a:srgbClr val="000000"/>
                </a:solidFill>
                <a:latin typeface="Cochin" panose="02000603020000020003" pitchFamily="2" charset="0"/>
              </a:rPr>
              <a:t>Car name</a:t>
            </a:r>
            <a:r>
              <a:rPr lang="en-US" altLang="en-US" sz="2400" dirty="0">
                <a:solidFill>
                  <a:srgbClr val="000000"/>
                </a:solidFill>
                <a:latin typeface="Cochin" panose="02000603020000020003" pitchFamily="2" charset="0"/>
              </a:rPr>
              <a:t> (Non-numeric And Irrelevant For Prediction).</a:t>
            </a:r>
          </a:p>
          <a:p>
            <a:pPr lvl="0" defTabSz="914400">
              <a:spcBef>
                <a:spcPts val="1400"/>
              </a:spcBef>
              <a:buFontTx/>
              <a:buChar char="•"/>
            </a:pPr>
            <a:r>
              <a:rPr lang="en-US" altLang="en-US" sz="2400" dirty="0">
                <a:solidFill>
                  <a:srgbClr val="000000"/>
                </a:solidFill>
                <a:latin typeface="Cochin" panose="02000603020000020003" pitchFamily="2" charset="0"/>
              </a:rPr>
              <a:t>Selected Key Numerical Features: </a:t>
            </a:r>
            <a:r>
              <a:rPr lang="en-US" altLang="en-US" sz="2400" i="1" dirty="0">
                <a:solidFill>
                  <a:srgbClr val="000000"/>
                </a:solidFill>
                <a:latin typeface="+mn-lt"/>
                <a:cs typeface="David" panose="020E0502060401010101" pitchFamily="34" charset="-79"/>
              </a:rPr>
              <a:t>Cylinders, Displacement, Horsepower, Weight, Acceleration, Model year, Origin.</a:t>
            </a:r>
            <a:endParaRPr lang="en-US" altLang="en-US" sz="2400" dirty="0">
              <a:solidFill>
                <a:srgbClr val="000000"/>
              </a:solidFill>
              <a:latin typeface="+mn-lt"/>
              <a:cs typeface="David" panose="020E0502060401010101" pitchFamily="34" charset="-79"/>
            </a:endParaRPr>
          </a:p>
          <a:p>
            <a:pPr lvl="0" defTabSz="914400">
              <a:spcBef>
                <a:spcPts val="1400"/>
              </a:spcBef>
              <a:buFontTx/>
              <a:buChar char="•"/>
            </a:pPr>
            <a:r>
              <a:rPr lang="en-US" altLang="en-US" sz="2400" dirty="0">
                <a:solidFill>
                  <a:srgbClr val="000000"/>
                </a:solidFill>
                <a:latin typeface="Cochin" panose="02000603020000020003" pitchFamily="2" charset="0"/>
              </a:rPr>
              <a:t>Analyzed Feature Correlations With </a:t>
            </a:r>
            <a:r>
              <a:rPr lang="en-US" altLang="en-US" sz="2400" b="1" dirty="0">
                <a:solidFill>
                  <a:srgbClr val="000000"/>
                </a:solidFill>
                <a:latin typeface="Cochin" panose="02000603020000020003" pitchFamily="2" charset="0"/>
              </a:rPr>
              <a:t>Mpg</a:t>
            </a:r>
            <a:r>
              <a:rPr lang="en-US" altLang="en-US" sz="2400" dirty="0">
                <a:solidFill>
                  <a:srgbClr val="000000"/>
                </a:solidFill>
                <a:latin typeface="Cochin" panose="02000603020000020003" pitchFamily="2" charset="0"/>
              </a:rPr>
              <a:t> Using A Heatmap.</a:t>
            </a:r>
          </a:p>
          <a:p>
            <a:pPr lvl="0" defTabSz="914400">
              <a:spcBef>
                <a:spcPts val="1400"/>
              </a:spcBef>
              <a:buFontTx/>
              <a:buChar char="•"/>
            </a:pPr>
            <a:r>
              <a:rPr lang="en-US" altLang="en-US" sz="2400" dirty="0">
                <a:solidFill>
                  <a:srgbClr val="000000"/>
                </a:solidFill>
                <a:latin typeface="Cochin" panose="02000603020000020003" pitchFamily="2" charset="0"/>
              </a:rPr>
              <a:t>Split Data Into </a:t>
            </a:r>
            <a:r>
              <a:rPr lang="en-US" altLang="en-US" sz="2400" b="1" dirty="0">
                <a:solidFill>
                  <a:srgbClr val="000000"/>
                </a:solidFill>
                <a:latin typeface="Cochin" panose="02000603020000020003" pitchFamily="2" charset="0"/>
              </a:rPr>
              <a:t>Training (80%)</a:t>
            </a:r>
            <a:r>
              <a:rPr lang="en-US" altLang="en-US" sz="2400" dirty="0">
                <a:solidFill>
                  <a:srgbClr val="000000"/>
                </a:solidFill>
                <a:latin typeface="Cochin" panose="02000603020000020003" pitchFamily="2" charset="0"/>
              </a:rPr>
              <a:t> And </a:t>
            </a:r>
            <a:r>
              <a:rPr lang="en-US" altLang="en-US" sz="2400" b="1" dirty="0">
                <a:solidFill>
                  <a:srgbClr val="000000"/>
                </a:solidFill>
                <a:latin typeface="Cochin" panose="02000603020000020003" pitchFamily="2" charset="0"/>
              </a:rPr>
              <a:t>Testing (20%)</a:t>
            </a:r>
            <a:r>
              <a:rPr lang="en-US" altLang="en-US" sz="2400" dirty="0">
                <a:solidFill>
                  <a:srgbClr val="000000"/>
                </a:solidFill>
                <a:latin typeface="Cochin" panose="02000603020000020003" pitchFamily="2" charset="0"/>
              </a:rPr>
              <a:t> Sets For Modeling.</a:t>
            </a:r>
          </a:p>
          <a:p>
            <a:pPr lvl="0" defTabSz="914400">
              <a:spcBef>
                <a:spcPts val="1400"/>
              </a:spcBef>
            </a:pPr>
            <a:endParaRPr lang="en-US" altLang="en-US" sz="2400" dirty="0">
              <a:latin typeface="Cochin" panose="02000603020000020003" pitchFamily="2" charset="0"/>
            </a:endParaRPr>
          </a:p>
        </p:txBody>
      </p:sp>
    </p:spTree>
    <p:extLst>
      <p:ext uri="{BB962C8B-B14F-4D97-AF65-F5344CB8AC3E}">
        <p14:creationId xmlns:p14="http://schemas.microsoft.com/office/powerpoint/2010/main" val="2669384365"/>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A3C33-A9AD-9D5E-9BBA-3EE34B77D00C}"/>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F607163F-54D4-A3B6-9683-FD29B92073AD}"/>
              </a:ext>
            </a:extLst>
          </p:cNvPr>
          <p:cNvSpPr/>
          <p:nvPr/>
        </p:nvSpPr>
        <p:spPr>
          <a:xfrm>
            <a:off x="2360848" y="-47500"/>
            <a:ext cx="7470315" cy="707886"/>
          </a:xfrm>
          <a:prstGeom prst="rect">
            <a:avLst/>
          </a:prstGeom>
          <a:noFill/>
        </p:spPr>
        <p:txBody>
          <a:bodyPr wrap="none" lIns="91440" tIns="45720" rIns="91440" bIns="45720">
            <a:spAutoFit/>
          </a:bodyPr>
          <a:lstStyle/>
          <a:p>
            <a:pPr algn="ctr"/>
            <a:r>
              <a:rPr lang="en-US" sz="4000" cap="none" spc="0" dirty="0">
                <a:ln w="0"/>
                <a:gradFill>
                  <a:gsLst>
                    <a:gs pos="21000">
                      <a:srgbClr val="53575C"/>
                    </a:gs>
                    <a:gs pos="88000">
                      <a:srgbClr val="C5C7CA"/>
                    </a:gs>
                  </a:gsLst>
                  <a:lin ang="5400000"/>
                </a:gradFill>
                <a:effectLst/>
              </a:rPr>
              <a:t>MODEL SELECTION AND TRAINING</a:t>
            </a:r>
          </a:p>
        </p:txBody>
      </p:sp>
      <p:sp>
        <p:nvSpPr>
          <p:cNvPr id="3" name="Rectangle 1">
            <a:extLst>
              <a:ext uri="{FF2B5EF4-FFF2-40B4-BE49-F238E27FC236}">
                <a16:creationId xmlns:a16="http://schemas.microsoft.com/office/drawing/2014/main" id="{1D249F0D-7567-379F-110E-C1E576F48812}"/>
              </a:ext>
            </a:extLst>
          </p:cNvPr>
          <p:cNvSpPr>
            <a:spLocks noChangeArrowheads="1"/>
          </p:cNvSpPr>
          <p:nvPr/>
        </p:nvSpPr>
        <p:spPr bwMode="auto">
          <a:xfrm>
            <a:off x="626942" y="1391809"/>
            <a:ext cx="11528962" cy="4213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defTabSz="914400">
              <a:spcBef>
                <a:spcPts val="1300"/>
              </a:spcBef>
              <a:buFontTx/>
              <a:buChar char="•"/>
            </a:pPr>
            <a:r>
              <a:rPr lang="en-US" altLang="en-US" sz="2400" dirty="0">
                <a:solidFill>
                  <a:srgbClr val="1C1A55"/>
                </a:solidFill>
                <a:latin typeface="Cochin" panose="02000603020000020003" pitchFamily="2" charset="0"/>
              </a:rPr>
              <a:t>Split Data Into </a:t>
            </a:r>
            <a:r>
              <a:rPr lang="en-US" altLang="en-US" sz="2400" b="1" dirty="0">
                <a:solidFill>
                  <a:srgbClr val="1C1A55"/>
                </a:solidFill>
                <a:latin typeface="Cochin" panose="02000603020000020003" pitchFamily="2" charset="0"/>
              </a:rPr>
              <a:t>Training (80%)</a:t>
            </a:r>
            <a:r>
              <a:rPr lang="en-US" altLang="en-US" sz="2400" dirty="0">
                <a:solidFill>
                  <a:srgbClr val="1C1A55"/>
                </a:solidFill>
                <a:latin typeface="Cochin" panose="02000603020000020003" pitchFamily="2" charset="0"/>
              </a:rPr>
              <a:t> And </a:t>
            </a:r>
            <a:r>
              <a:rPr lang="en-US" altLang="en-US" sz="2400" b="1" dirty="0">
                <a:solidFill>
                  <a:srgbClr val="1C1A55"/>
                </a:solidFill>
                <a:latin typeface="Cochin" panose="02000603020000020003" pitchFamily="2" charset="0"/>
              </a:rPr>
              <a:t>Testing (20%)</a:t>
            </a:r>
            <a:r>
              <a:rPr lang="en-US" altLang="en-US" sz="2400" dirty="0">
                <a:solidFill>
                  <a:srgbClr val="1C1A55"/>
                </a:solidFill>
                <a:latin typeface="Cochin" panose="02000603020000020003" pitchFamily="2" charset="0"/>
              </a:rPr>
              <a:t> Sets.</a:t>
            </a:r>
          </a:p>
          <a:p>
            <a:pPr lvl="0" defTabSz="914400">
              <a:spcBef>
                <a:spcPts val="1300"/>
              </a:spcBef>
              <a:buFontTx/>
              <a:buChar char="•"/>
            </a:pPr>
            <a:r>
              <a:rPr lang="en-US" altLang="en-US" sz="2400" dirty="0">
                <a:solidFill>
                  <a:srgbClr val="1C1A55"/>
                </a:solidFill>
                <a:latin typeface="Cochin" panose="02000603020000020003" pitchFamily="2" charset="0"/>
              </a:rPr>
              <a:t>Built Two Regression Models: </a:t>
            </a:r>
            <a:r>
              <a:rPr lang="en-US" altLang="en-US" sz="2400" b="1" dirty="0">
                <a:solidFill>
                  <a:srgbClr val="1C1A55"/>
                </a:solidFill>
                <a:latin typeface="Cochin" panose="02000603020000020003" pitchFamily="2" charset="0"/>
              </a:rPr>
              <a:t>Linear Regression</a:t>
            </a:r>
            <a:r>
              <a:rPr lang="en-US" altLang="en-US" sz="2400" dirty="0">
                <a:solidFill>
                  <a:srgbClr val="1C1A55"/>
                </a:solidFill>
                <a:latin typeface="Cochin" panose="02000603020000020003" pitchFamily="2" charset="0"/>
              </a:rPr>
              <a:t> And </a:t>
            </a:r>
            <a:r>
              <a:rPr lang="en-US" altLang="en-US" sz="2400" b="1" dirty="0">
                <a:solidFill>
                  <a:srgbClr val="1C1A55"/>
                </a:solidFill>
                <a:latin typeface="Cochin" panose="02000603020000020003" pitchFamily="2" charset="0"/>
              </a:rPr>
              <a:t>Random Forest Regressor</a:t>
            </a:r>
            <a:r>
              <a:rPr lang="en-US" altLang="en-US" sz="2400" dirty="0">
                <a:solidFill>
                  <a:srgbClr val="1C1A55"/>
                </a:solidFill>
                <a:latin typeface="Cochin" panose="02000603020000020003" pitchFamily="2" charset="0"/>
              </a:rPr>
              <a:t>.</a:t>
            </a:r>
          </a:p>
          <a:p>
            <a:pPr lvl="0" defTabSz="914400">
              <a:spcBef>
                <a:spcPts val="1300"/>
              </a:spcBef>
              <a:buFontTx/>
              <a:buChar char="•"/>
            </a:pPr>
            <a:r>
              <a:rPr lang="en-US" altLang="en-US" sz="2400" dirty="0">
                <a:solidFill>
                  <a:srgbClr val="1C1A55"/>
                </a:solidFill>
                <a:latin typeface="Cochin" panose="02000603020000020003" pitchFamily="2" charset="0"/>
              </a:rPr>
              <a:t>Trained Models Using Training Data And Tested On Unseen Data.</a:t>
            </a:r>
          </a:p>
          <a:p>
            <a:pPr lvl="0" defTabSz="914400">
              <a:spcBef>
                <a:spcPts val="1300"/>
              </a:spcBef>
              <a:buFontTx/>
              <a:buChar char="•"/>
            </a:pPr>
            <a:r>
              <a:rPr lang="en-US" altLang="en-US" sz="2400" dirty="0">
                <a:solidFill>
                  <a:srgbClr val="1C1A55"/>
                </a:solidFill>
                <a:latin typeface="Cochin" panose="02000603020000020003" pitchFamily="2" charset="0"/>
              </a:rPr>
              <a:t>Evaluated Performance Using:</a:t>
            </a:r>
          </a:p>
          <a:p>
            <a:pPr lvl="0" defTabSz="914400">
              <a:spcBef>
                <a:spcPts val="1300"/>
              </a:spcBef>
              <a:buFontTx/>
              <a:buChar char="•"/>
            </a:pPr>
            <a:r>
              <a:rPr lang="en-US" altLang="en-US" sz="2400" b="1" dirty="0">
                <a:solidFill>
                  <a:srgbClr val="1C1A55"/>
                </a:solidFill>
                <a:latin typeface="Cochin" panose="02000603020000020003" pitchFamily="2" charset="0"/>
              </a:rPr>
              <a:t>MAE (Mean Absolute Error)</a:t>
            </a:r>
            <a:endParaRPr lang="en-US" altLang="en-US" sz="2400" dirty="0">
              <a:solidFill>
                <a:srgbClr val="1C1A55"/>
              </a:solidFill>
              <a:latin typeface="Cochin" panose="02000603020000020003" pitchFamily="2" charset="0"/>
            </a:endParaRPr>
          </a:p>
          <a:p>
            <a:pPr lvl="0" defTabSz="914400">
              <a:spcBef>
                <a:spcPts val="1300"/>
              </a:spcBef>
              <a:buFontTx/>
              <a:buChar char="•"/>
            </a:pPr>
            <a:r>
              <a:rPr lang="en-US" altLang="en-US" sz="2400" b="1" dirty="0">
                <a:solidFill>
                  <a:srgbClr val="1C1A55"/>
                </a:solidFill>
                <a:latin typeface="Cochin" panose="02000603020000020003" pitchFamily="2" charset="0"/>
              </a:rPr>
              <a:t>RMSE (Root Mean Squared Error)</a:t>
            </a:r>
            <a:endParaRPr lang="en-US" altLang="en-US" sz="2400" dirty="0">
              <a:solidFill>
                <a:srgbClr val="1C1A55"/>
              </a:solidFill>
              <a:latin typeface="Cochin" panose="02000603020000020003" pitchFamily="2" charset="0"/>
            </a:endParaRPr>
          </a:p>
          <a:p>
            <a:pPr lvl="0" defTabSz="914400">
              <a:spcBef>
                <a:spcPts val="1300"/>
              </a:spcBef>
              <a:buFontTx/>
              <a:buChar char="•"/>
            </a:pPr>
            <a:r>
              <a:rPr lang="en-US" altLang="en-US" sz="2400" b="1" dirty="0">
                <a:solidFill>
                  <a:srgbClr val="1C1A55"/>
                </a:solidFill>
                <a:latin typeface="Cochin" panose="02000603020000020003" pitchFamily="2" charset="0"/>
              </a:rPr>
              <a:t>R² Score (Accuracy Measure)</a:t>
            </a:r>
            <a:endParaRPr lang="en-US" altLang="en-US" sz="2400" dirty="0">
              <a:solidFill>
                <a:srgbClr val="1C1A55"/>
              </a:solidFill>
              <a:latin typeface="Cochin" panose="02000603020000020003" pitchFamily="2" charset="0"/>
            </a:endParaRPr>
          </a:p>
          <a:p>
            <a:pPr lvl="0" defTabSz="914400">
              <a:spcBef>
                <a:spcPts val="1300"/>
              </a:spcBef>
            </a:pPr>
            <a:endParaRPr lang="en-US" altLang="en-US" sz="2400" dirty="0">
              <a:solidFill>
                <a:srgbClr val="1C1A55"/>
              </a:solidFill>
              <a:latin typeface="Cochin" panose="02000603020000020003" pitchFamily="2" charset="0"/>
            </a:endParaRPr>
          </a:p>
        </p:txBody>
      </p:sp>
    </p:spTree>
    <p:extLst>
      <p:ext uri="{BB962C8B-B14F-4D97-AF65-F5344CB8AC3E}">
        <p14:creationId xmlns:p14="http://schemas.microsoft.com/office/powerpoint/2010/main" val="1015504281"/>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F23DF4A-94D9-D9B0-F662-BF2B7C4B05E3}"/>
              </a:ext>
            </a:extLst>
          </p:cNvPr>
          <p:cNvSpPr/>
          <p:nvPr/>
        </p:nvSpPr>
        <p:spPr>
          <a:xfrm>
            <a:off x="2599108" y="-15502"/>
            <a:ext cx="7160038" cy="707886"/>
          </a:xfrm>
          <a:prstGeom prst="rect">
            <a:avLst/>
          </a:prstGeom>
          <a:noFill/>
        </p:spPr>
        <p:txBody>
          <a:bodyPr wrap="none" lIns="91440" tIns="45720" rIns="91440" bIns="45720">
            <a:spAutoFit/>
          </a:bodyPr>
          <a:lstStyle/>
          <a:p>
            <a:pPr algn="ctr"/>
            <a:r>
              <a:rPr lang="en-US" sz="4000" cap="none" spc="0" dirty="0">
                <a:ln w="0"/>
                <a:gradFill>
                  <a:gsLst>
                    <a:gs pos="21000">
                      <a:srgbClr val="53575C"/>
                    </a:gs>
                    <a:gs pos="88000">
                      <a:srgbClr val="C5C7CA"/>
                    </a:gs>
                  </a:gsLst>
                  <a:lin ang="5400000"/>
                </a:gradFill>
                <a:effectLst/>
              </a:rPr>
              <a:t>MODEL COMPARISON SUMMARY</a:t>
            </a:r>
          </a:p>
        </p:txBody>
      </p:sp>
      <p:graphicFrame>
        <p:nvGraphicFramePr>
          <p:cNvPr id="2" name="Table 1">
            <a:extLst>
              <a:ext uri="{FF2B5EF4-FFF2-40B4-BE49-F238E27FC236}">
                <a16:creationId xmlns:a16="http://schemas.microsoft.com/office/drawing/2014/main" id="{AE03F525-02F2-4D28-0F9C-3113395C2F9F}"/>
              </a:ext>
            </a:extLst>
          </p:cNvPr>
          <p:cNvGraphicFramePr>
            <a:graphicFrameLocks noGrp="1"/>
          </p:cNvGraphicFramePr>
          <p:nvPr>
            <p:extLst>
              <p:ext uri="{D42A27DB-BD31-4B8C-83A1-F6EECF244321}">
                <p14:modId xmlns:p14="http://schemas.microsoft.com/office/powerpoint/2010/main" val="1749784915"/>
              </p:ext>
            </p:extLst>
          </p:nvPr>
        </p:nvGraphicFramePr>
        <p:xfrm>
          <a:off x="563843" y="1491916"/>
          <a:ext cx="11230567" cy="3874168"/>
        </p:xfrm>
        <a:graphic>
          <a:graphicData uri="http://schemas.openxmlformats.org/drawingml/2006/table">
            <a:tbl>
              <a:tblPr>
                <a:tableStyleId>{5940675A-B579-460E-94D1-54222C63F5DA}</a:tableStyleId>
              </a:tblPr>
              <a:tblGrid>
                <a:gridCol w="2180122">
                  <a:extLst>
                    <a:ext uri="{9D8B030D-6E8A-4147-A177-3AD203B41FA5}">
                      <a16:colId xmlns:a16="http://schemas.microsoft.com/office/drawing/2014/main" val="1041134965"/>
                    </a:ext>
                  </a:extLst>
                </a:gridCol>
                <a:gridCol w="2180122">
                  <a:extLst>
                    <a:ext uri="{9D8B030D-6E8A-4147-A177-3AD203B41FA5}">
                      <a16:colId xmlns:a16="http://schemas.microsoft.com/office/drawing/2014/main" val="1187175527"/>
                    </a:ext>
                  </a:extLst>
                </a:gridCol>
                <a:gridCol w="2814587">
                  <a:extLst>
                    <a:ext uri="{9D8B030D-6E8A-4147-A177-3AD203B41FA5}">
                      <a16:colId xmlns:a16="http://schemas.microsoft.com/office/drawing/2014/main" val="1240938325"/>
                    </a:ext>
                  </a:extLst>
                </a:gridCol>
                <a:gridCol w="1696453">
                  <a:extLst>
                    <a:ext uri="{9D8B030D-6E8A-4147-A177-3AD203B41FA5}">
                      <a16:colId xmlns:a16="http://schemas.microsoft.com/office/drawing/2014/main" val="242950055"/>
                    </a:ext>
                  </a:extLst>
                </a:gridCol>
                <a:gridCol w="2359283">
                  <a:extLst>
                    <a:ext uri="{9D8B030D-6E8A-4147-A177-3AD203B41FA5}">
                      <a16:colId xmlns:a16="http://schemas.microsoft.com/office/drawing/2014/main" val="379872121"/>
                    </a:ext>
                  </a:extLst>
                </a:gridCol>
              </a:tblGrid>
              <a:tr h="1004414">
                <a:tc>
                  <a:txBody>
                    <a:bodyPr/>
                    <a:lstStyle/>
                    <a:p>
                      <a:pPr algn="ctr">
                        <a:buNone/>
                      </a:pPr>
                      <a:r>
                        <a:rPr lang="en-IN" b="1" dirty="0"/>
                        <a:t>Model</a:t>
                      </a:r>
                      <a:endParaRPr lang="en-IN" dirty="0"/>
                    </a:p>
                  </a:txBody>
                  <a:tcPr anchor="ctr"/>
                </a:tc>
                <a:tc>
                  <a:txBody>
                    <a:bodyPr/>
                    <a:lstStyle/>
                    <a:p>
                      <a:pPr algn="ctr">
                        <a:buNone/>
                      </a:pPr>
                      <a:r>
                        <a:rPr lang="en-IN" b="1" dirty="0"/>
                        <a:t>Mean Absolute Error (MAE)</a:t>
                      </a:r>
                      <a:endParaRPr lang="en-IN" dirty="0"/>
                    </a:p>
                  </a:txBody>
                  <a:tcPr anchor="ctr"/>
                </a:tc>
                <a:tc>
                  <a:txBody>
                    <a:bodyPr/>
                    <a:lstStyle/>
                    <a:p>
                      <a:pPr algn="ctr">
                        <a:buNone/>
                      </a:pPr>
                      <a:r>
                        <a:rPr lang="en-IN" b="1" dirty="0"/>
                        <a:t>Root Mean Squared Error (RMSE)</a:t>
                      </a:r>
                      <a:endParaRPr lang="en-IN" dirty="0"/>
                    </a:p>
                  </a:txBody>
                  <a:tcPr anchor="ctr"/>
                </a:tc>
                <a:tc>
                  <a:txBody>
                    <a:bodyPr/>
                    <a:lstStyle/>
                    <a:p>
                      <a:pPr algn="ctr">
                        <a:buNone/>
                      </a:pPr>
                      <a:r>
                        <a:rPr lang="en-IN" b="1" dirty="0"/>
                        <a:t>R² Score</a:t>
                      </a:r>
                      <a:endParaRPr lang="en-IN" dirty="0"/>
                    </a:p>
                  </a:txBody>
                  <a:tcPr anchor="ctr"/>
                </a:tc>
                <a:tc>
                  <a:txBody>
                    <a:bodyPr/>
                    <a:lstStyle/>
                    <a:p>
                      <a:pPr algn="ctr">
                        <a:buNone/>
                      </a:pPr>
                      <a:r>
                        <a:rPr lang="en-IN" b="1" dirty="0"/>
                        <a:t>Remarks</a:t>
                      </a:r>
                      <a:endParaRPr lang="en-IN" dirty="0"/>
                    </a:p>
                  </a:txBody>
                  <a:tcPr anchor="ctr"/>
                </a:tc>
                <a:extLst>
                  <a:ext uri="{0D108BD9-81ED-4DB2-BD59-A6C34878D82A}">
                    <a16:rowId xmlns:a16="http://schemas.microsoft.com/office/drawing/2014/main" val="3141533577"/>
                  </a:ext>
                </a:extLst>
              </a:tr>
              <a:tr h="1434877">
                <a:tc>
                  <a:txBody>
                    <a:bodyPr/>
                    <a:lstStyle/>
                    <a:p>
                      <a:pPr algn="ctr">
                        <a:buNone/>
                      </a:pPr>
                      <a:r>
                        <a:rPr lang="en-IN" b="1" dirty="0"/>
                        <a:t>Linear Regression</a:t>
                      </a:r>
                      <a:endParaRPr lang="en-IN" dirty="0"/>
                    </a:p>
                  </a:txBody>
                  <a:tcPr anchor="ctr"/>
                </a:tc>
                <a:tc>
                  <a:txBody>
                    <a:bodyPr/>
                    <a:lstStyle/>
                    <a:p>
                      <a:pPr algn="ctr">
                        <a:buNone/>
                      </a:pPr>
                      <a:r>
                        <a:rPr lang="en-IN" dirty="0"/>
                        <a:t>2.42</a:t>
                      </a:r>
                    </a:p>
                  </a:txBody>
                  <a:tcPr anchor="ctr"/>
                </a:tc>
                <a:tc>
                  <a:txBody>
                    <a:bodyPr/>
                    <a:lstStyle/>
                    <a:p>
                      <a:pPr algn="ctr">
                        <a:buNone/>
                      </a:pPr>
                      <a:r>
                        <a:rPr lang="en-IN" dirty="0"/>
                        <a:t>3.27</a:t>
                      </a:r>
                    </a:p>
                  </a:txBody>
                  <a:tcPr anchor="ctr"/>
                </a:tc>
                <a:tc>
                  <a:txBody>
                    <a:bodyPr/>
                    <a:lstStyle/>
                    <a:p>
                      <a:pPr algn="ctr">
                        <a:buNone/>
                      </a:pPr>
                      <a:r>
                        <a:rPr lang="en-IN"/>
                        <a:t>0.79</a:t>
                      </a:r>
                    </a:p>
                  </a:txBody>
                  <a:tcPr anchor="ctr"/>
                </a:tc>
                <a:tc>
                  <a:txBody>
                    <a:bodyPr/>
                    <a:lstStyle/>
                    <a:p>
                      <a:pPr>
                        <a:buNone/>
                      </a:pPr>
                      <a:r>
                        <a:rPr lang="en-IN"/>
                        <a:t>Good baseline model; assumes linear relationships.</a:t>
                      </a:r>
                    </a:p>
                  </a:txBody>
                  <a:tcPr anchor="ctr"/>
                </a:tc>
                <a:extLst>
                  <a:ext uri="{0D108BD9-81ED-4DB2-BD59-A6C34878D82A}">
                    <a16:rowId xmlns:a16="http://schemas.microsoft.com/office/drawing/2014/main" val="3741096531"/>
                  </a:ext>
                </a:extLst>
              </a:tr>
              <a:tr h="1434877">
                <a:tc>
                  <a:txBody>
                    <a:bodyPr/>
                    <a:lstStyle/>
                    <a:p>
                      <a:pPr algn="ctr">
                        <a:buNone/>
                      </a:pPr>
                      <a:r>
                        <a:rPr lang="en-IN" b="1" dirty="0"/>
                        <a:t>Random Forest Regressor</a:t>
                      </a:r>
                      <a:endParaRPr lang="en-IN" dirty="0"/>
                    </a:p>
                  </a:txBody>
                  <a:tcPr anchor="ctr"/>
                </a:tc>
                <a:tc>
                  <a:txBody>
                    <a:bodyPr/>
                    <a:lstStyle/>
                    <a:p>
                      <a:pPr algn="ctr">
                        <a:buNone/>
                      </a:pPr>
                      <a:r>
                        <a:rPr lang="en-IN" dirty="0"/>
                        <a:t>1.76</a:t>
                      </a:r>
                    </a:p>
                  </a:txBody>
                  <a:tcPr anchor="ctr"/>
                </a:tc>
                <a:tc>
                  <a:txBody>
                    <a:bodyPr/>
                    <a:lstStyle/>
                    <a:p>
                      <a:pPr algn="ctr">
                        <a:buNone/>
                      </a:pPr>
                      <a:r>
                        <a:rPr lang="en-IN" dirty="0"/>
                        <a:t>2.47</a:t>
                      </a:r>
                    </a:p>
                  </a:txBody>
                  <a:tcPr anchor="ctr"/>
                </a:tc>
                <a:tc>
                  <a:txBody>
                    <a:bodyPr/>
                    <a:lstStyle/>
                    <a:p>
                      <a:pPr algn="ctr">
                        <a:buNone/>
                      </a:pPr>
                      <a:r>
                        <a:rPr lang="en-IN" dirty="0"/>
                        <a:t>0.88</a:t>
                      </a:r>
                    </a:p>
                  </a:txBody>
                  <a:tcPr anchor="ctr"/>
                </a:tc>
                <a:tc>
                  <a:txBody>
                    <a:bodyPr/>
                    <a:lstStyle/>
                    <a:p>
                      <a:pPr>
                        <a:buNone/>
                      </a:pPr>
                      <a:r>
                        <a:rPr lang="en-IN" dirty="0"/>
                        <a:t>Higher accuracy, captures complex, non-linear patterns.</a:t>
                      </a:r>
                    </a:p>
                  </a:txBody>
                  <a:tcPr anchor="ctr"/>
                </a:tc>
                <a:extLst>
                  <a:ext uri="{0D108BD9-81ED-4DB2-BD59-A6C34878D82A}">
                    <a16:rowId xmlns:a16="http://schemas.microsoft.com/office/drawing/2014/main" val="1491491595"/>
                  </a:ext>
                </a:extLst>
              </a:tr>
            </a:tbl>
          </a:graphicData>
        </a:graphic>
      </p:graphicFrame>
    </p:spTree>
    <p:extLst>
      <p:ext uri="{BB962C8B-B14F-4D97-AF65-F5344CB8AC3E}">
        <p14:creationId xmlns:p14="http://schemas.microsoft.com/office/powerpoint/2010/main" val="2272459462"/>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DADEB02-9D65-20D2-018D-BF72D66CE148}"/>
              </a:ext>
            </a:extLst>
          </p:cNvPr>
          <p:cNvPicPr>
            <a:picLocks noChangeAspect="1"/>
          </p:cNvPicPr>
          <p:nvPr/>
        </p:nvPicPr>
        <p:blipFill>
          <a:blip r:embed="rId2"/>
          <a:stretch>
            <a:fillRect/>
          </a:stretch>
        </p:blipFill>
        <p:spPr>
          <a:xfrm>
            <a:off x="3140694" y="582701"/>
            <a:ext cx="5790292" cy="4169771"/>
          </a:xfrm>
          <a:prstGeom prst="rect">
            <a:avLst/>
          </a:prstGeom>
        </p:spPr>
      </p:pic>
      <p:sp>
        <p:nvSpPr>
          <p:cNvPr id="6" name="Rectangle 5">
            <a:extLst>
              <a:ext uri="{FF2B5EF4-FFF2-40B4-BE49-F238E27FC236}">
                <a16:creationId xmlns:a16="http://schemas.microsoft.com/office/drawing/2014/main" id="{B445995D-8F61-2D9E-E91F-6D5D47BAE26A}"/>
              </a:ext>
            </a:extLst>
          </p:cNvPr>
          <p:cNvSpPr/>
          <p:nvPr/>
        </p:nvSpPr>
        <p:spPr>
          <a:xfrm>
            <a:off x="1067578" y="-63630"/>
            <a:ext cx="10223120" cy="646331"/>
          </a:xfrm>
          <a:prstGeom prst="rect">
            <a:avLst/>
          </a:prstGeom>
          <a:noFill/>
        </p:spPr>
        <p:txBody>
          <a:bodyPr wrap="none" lIns="91440" tIns="45720" rIns="91440" bIns="45720">
            <a:spAutoFit/>
          </a:bodyPr>
          <a:lstStyle/>
          <a:p>
            <a:pPr algn="ctr"/>
            <a:r>
              <a:rPr lang="en-US" sz="3600" cap="none" spc="0" dirty="0">
                <a:ln w="0"/>
                <a:gradFill>
                  <a:gsLst>
                    <a:gs pos="21000">
                      <a:srgbClr val="53575C"/>
                    </a:gs>
                    <a:gs pos="88000">
                      <a:srgbClr val="C5C7CA"/>
                    </a:gs>
                  </a:gsLst>
                  <a:lin ang="5400000"/>
                </a:gradFill>
                <a:effectLst/>
              </a:rPr>
              <a:t>FEATURE IMPORTANCE (IMPACT ON FUEL EFFICIENCY)</a:t>
            </a:r>
          </a:p>
        </p:txBody>
      </p:sp>
      <p:sp>
        <p:nvSpPr>
          <p:cNvPr id="9" name="TextBox 8">
            <a:extLst>
              <a:ext uri="{FF2B5EF4-FFF2-40B4-BE49-F238E27FC236}">
                <a16:creationId xmlns:a16="http://schemas.microsoft.com/office/drawing/2014/main" id="{802B05EE-DAD3-EDC6-70CE-43CAE9EC2455}"/>
              </a:ext>
            </a:extLst>
          </p:cNvPr>
          <p:cNvSpPr txBox="1"/>
          <p:nvPr/>
        </p:nvSpPr>
        <p:spPr>
          <a:xfrm>
            <a:off x="1130096" y="4819346"/>
            <a:ext cx="6817892" cy="1431161"/>
          </a:xfrm>
          <a:prstGeom prst="rect">
            <a:avLst/>
          </a:prstGeom>
          <a:noFill/>
        </p:spPr>
        <p:txBody>
          <a:bodyPr wrap="none" rtlCol="0">
            <a:spAutoFit/>
          </a:bodyPr>
          <a:lstStyle/>
          <a:p>
            <a:pPr lvl="0" defTabSz="914400" eaLnBrk="0" fontAlgn="base" hangingPunct="0">
              <a:spcBef>
                <a:spcPts val="600"/>
              </a:spcBef>
              <a:spcAft>
                <a:spcPct val="0"/>
              </a:spcAft>
              <a:buFontTx/>
              <a:buChar char="•"/>
            </a:pPr>
            <a:r>
              <a:rPr lang="en-US" altLang="en-US" dirty="0">
                <a:solidFill>
                  <a:srgbClr val="1C1A55"/>
                </a:solidFill>
                <a:latin typeface="Cochin" panose="02000603020000020003" pitchFamily="2" charset="0"/>
              </a:rPr>
              <a:t>There Is A </a:t>
            </a:r>
            <a:r>
              <a:rPr lang="en-US" altLang="en-US" b="1" dirty="0">
                <a:solidFill>
                  <a:srgbClr val="1C1A55"/>
                </a:solidFill>
                <a:latin typeface="Cochin" panose="02000603020000020003" pitchFamily="2" charset="0"/>
              </a:rPr>
              <a:t>Clear Downward Trend</a:t>
            </a:r>
            <a:r>
              <a:rPr lang="en-US" altLang="en-US" dirty="0">
                <a:solidFill>
                  <a:srgbClr val="1C1A55"/>
                </a:solidFill>
                <a:latin typeface="Cochin" panose="02000603020000020003" pitchFamily="2" charset="0"/>
              </a:rPr>
              <a:t> In The Plot.</a:t>
            </a:r>
          </a:p>
          <a:p>
            <a:pPr lvl="0" defTabSz="914400" eaLnBrk="0" fontAlgn="base" hangingPunct="0">
              <a:spcBef>
                <a:spcPts val="600"/>
              </a:spcBef>
              <a:spcAft>
                <a:spcPct val="0"/>
              </a:spcAft>
              <a:buFontTx/>
              <a:buChar char="•"/>
            </a:pPr>
            <a:r>
              <a:rPr lang="en-US" altLang="en-US" dirty="0">
                <a:solidFill>
                  <a:srgbClr val="1C1A55"/>
                </a:solidFill>
                <a:latin typeface="Cochin" panose="02000603020000020003" pitchFamily="2" charset="0"/>
              </a:rPr>
              <a:t>As </a:t>
            </a:r>
            <a:r>
              <a:rPr lang="en-US" altLang="en-US" b="1" dirty="0">
                <a:solidFill>
                  <a:srgbClr val="1C1A55"/>
                </a:solidFill>
                <a:latin typeface="Cochin" panose="02000603020000020003" pitchFamily="2" charset="0"/>
              </a:rPr>
              <a:t>Horsepower Increases</a:t>
            </a:r>
            <a:r>
              <a:rPr lang="en-US" altLang="en-US" dirty="0">
                <a:solidFill>
                  <a:srgbClr val="1C1A55"/>
                </a:solidFill>
                <a:latin typeface="Cochin" panose="02000603020000020003" pitchFamily="2" charset="0"/>
              </a:rPr>
              <a:t>, The </a:t>
            </a:r>
            <a:r>
              <a:rPr lang="en-US" altLang="en-US" b="1" dirty="0">
                <a:solidFill>
                  <a:srgbClr val="1C1A55"/>
                </a:solidFill>
                <a:latin typeface="Cochin" panose="02000603020000020003" pitchFamily="2" charset="0"/>
              </a:rPr>
              <a:t>Fuel Efficiency (MPG)</a:t>
            </a:r>
            <a:r>
              <a:rPr lang="en-US" altLang="en-US" dirty="0">
                <a:solidFill>
                  <a:srgbClr val="1C1A55"/>
                </a:solidFill>
                <a:latin typeface="Cochin" panose="02000603020000020003" pitchFamily="2" charset="0"/>
              </a:rPr>
              <a:t> Decreases.</a:t>
            </a:r>
          </a:p>
          <a:p>
            <a:pPr lvl="0" defTabSz="914400" eaLnBrk="0" fontAlgn="base" hangingPunct="0">
              <a:spcBef>
                <a:spcPts val="600"/>
              </a:spcBef>
              <a:spcAft>
                <a:spcPct val="0"/>
              </a:spcAft>
              <a:buFontTx/>
              <a:buChar char="•"/>
            </a:pPr>
            <a:r>
              <a:rPr lang="en-US" altLang="en-US" dirty="0">
                <a:solidFill>
                  <a:srgbClr val="1C1A55"/>
                </a:solidFill>
                <a:latin typeface="Cochin" panose="02000603020000020003" pitchFamily="2" charset="0"/>
              </a:rPr>
              <a:t>This Shows A </a:t>
            </a:r>
            <a:r>
              <a:rPr lang="en-US" altLang="en-US" b="1" dirty="0">
                <a:solidFill>
                  <a:srgbClr val="1C1A55"/>
                </a:solidFill>
                <a:latin typeface="Cochin" panose="02000603020000020003" pitchFamily="2" charset="0"/>
              </a:rPr>
              <a:t>Negative Correlation</a:t>
            </a:r>
            <a:r>
              <a:rPr lang="en-US" altLang="en-US" dirty="0">
                <a:solidFill>
                  <a:srgbClr val="1C1A55"/>
                </a:solidFill>
                <a:latin typeface="Cochin" panose="02000603020000020003" pitchFamily="2" charset="0"/>
              </a:rPr>
              <a:t> Between The Two Variables.</a:t>
            </a:r>
          </a:p>
          <a:p>
            <a:pPr lvl="0" defTabSz="914400" eaLnBrk="0" fontAlgn="base" hangingPunct="0">
              <a:spcBef>
                <a:spcPts val="600"/>
              </a:spcBef>
              <a:spcAft>
                <a:spcPct val="0"/>
              </a:spcAft>
              <a:buFontTx/>
              <a:buChar char="•"/>
            </a:pPr>
            <a:r>
              <a:rPr lang="en-IN" dirty="0">
                <a:solidFill>
                  <a:srgbClr val="1C1A55"/>
                </a:solidFill>
                <a:latin typeface="Cochin" panose="02000603020000020003" pitchFamily="2" charset="0"/>
              </a:rPr>
              <a:t>Lightweight And Smaller Engines Achieve Better Mileage.</a:t>
            </a:r>
            <a:endParaRPr lang="en-US" dirty="0">
              <a:solidFill>
                <a:srgbClr val="1C1A55"/>
              </a:solidFill>
              <a:latin typeface="Cochin" panose="02000603020000020003" pitchFamily="2" charset="0"/>
            </a:endParaRPr>
          </a:p>
        </p:txBody>
      </p:sp>
    </p:spTree>
    <p:extLst>
      <p:ext uri="{BB962C8B-B14F-4D97-AF65-F5344CB8AC3E}">
        <p14:creationId xmlns:p14="http://schemas.microsoft.com/office/powerpoint/2010/main" val="967901325"/>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A9584-1214-0CB9-4B33-632E0F511E7F}"/>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6017DC15-DCE5-F490-0A90-12202984F11E}"/>
              </a:ext>
            </a:extLst>
          </p:cNvPr>
          <p:cNvSpPr/>
          <p:nvPr/>
        </p:nvSpPr>
        <p:spPr>
          <a:xfrm>
            <a:off x="5199761" y="248443"/>
            <a:ext cx="1792477" cy="584775"/>
          </a:xfrm>
          <a:prstGeom prst="rect">
            <a:avLst/>
          </a:prstGeom>
          <a:noFill/>
        </p:spPr>
        <p:txBody>
          <a:bodyPr wrap="none" lIns="91440" tIns="45720" rIns="91440" bIns="45720">
            <a:spAutoFit/>
          </a:bodyPr>
          <a:lstStyle/>
          <a:p>
            <a:pPr algn="ctr"/>
            <a:r>
              <a:rPr lang="en-US" sz="3200" cap="none" spc="0" dirty="0">
                <a:ln w="0"/>
                <a:gradFill>
                  <a:gsLst>
                    <a:gs pos="21000">
                      <a:srgbClr val="53575C"/>
                    </a:gs>
                    <a:gs pos="88000">
                      <a:srgbClr val="C5C7CA"/>
                    </a:gs>
                  </a:gsLst>
                  <a:lin ang="5400000"/>
                </a:gradFill>
                <a:effectLst/>
              </a:rPr>
              <a:t>INSIGHTS</a:t>
            </a:r>
          </a:p>
        </p:txBody>
      </p:sp>
      <p:sp>
        <p:nvSpPr>
          <p:cNvPr id="3" name="TextBox 2">
            <a:extLst>
              <a:ext uri="{FF2B5EF4-FFF2-40B4-BE49-F238E27FC236}">
                <a16:creationId xmlns:a16="http://schemas.microsoft.com/office/drawing/2014/main" id="{E4EDF711-255B-6CC7-43C1-85BC66D10DF7}"/>
              </a:ext>
            </a:extLst>
          </p:cNvPr>
          <p:cNvSpPr txBox="1"/>
          <p:nvPr/>
        </p:nvSpPr>
        <p:spPr>
          <a:xfrm>
            <a:off x="264816" y="1022682"/>
            <a:ext cx="11927184" cy="2703304"/>
          </a:xfrm>
          <a:prstGeom prst="rect">
            <a:avLst/>
          </a:prstGeom>
          <a:noFill/>
        </p:spPr>
        <p:txBody>
          <a:bodyPr wrap="square" rtlCol="0">
            <a:spAutoFit/>
          </a:bodyPr>
          <a:lstStyle/>
          <a:p>
            <a:pPr lvl="0" algn="just" defTabSz="914400" eaLnBrk="0" fontAlgn="base" hangingPunct="0">
              <a:spcBef>
                <a:spcPts val="1000"/>
              </a:spcBef>
              <a:spcAft>
                <a:spcPct val="0"/>
              </a:spcAft>
            </a:pPr>
            <a:r>
              <a:rPr lang="en-US" altLang="en-US" sz="2000" b="1" dirty="0">
                <a:solidFill>
                  <a:srgbClr val="1C1A55"/>
                </a:solidFill>
                <a:latin typeface="Cochin" panose="02000603020000020003" pitchFamily="2" charset="0"/>
              </a:rPr>
              <a:t>BUSINESS INSIGHTS:</a:t>
            </a:r>
          </a:p>
          <a:p>
            <a:pPr lvl="0" algn="just" defTabSz="914400" eaLnBrk="0" fontAlgn="base" hangingPunct="0">
              <a:spcBef>
                <a:spcPts val="1000"/>
              </a:spcBef>
              <a:spcAft>
                <a:spcPct val="0"/>
              </a:spcAft>
              <a:buFontTx/>
              <a:buChar char="•"/>
            </a:pPr>
            <a:r>
              <a:rPr lang="en-US" altLang="en-US" dirty="0">
                <a:solidFill>
                  <a:srgbClr val="1C1A55"/>
                </a:solidFill>
                <a:latin typeface="Cochin" panose="02000603020000020003" pitchFamily="2" charset="0"/>
              </a:rPr>
              <a:t>Fuel Efficiency </a:t>
            </a:r>
            <a:r>
              <a:rPr lang="en-US" altLang="en-US" b="1" dirty="0">
                <a:solidFill>
                  <a:srgbClr val="1C1A55"/>
                </a:solidFill>
                <a:latin typeface="Cochin" panose="02000603020000020003" pitchFamily="2" charset="0"/>
              </a:rPr>
              <a:t>Drops With Higher Horsepower, Engine Size, And Weight</a:t>
            </a:r>
            <a:r>
              <a:rPr lang="en-US" altLang="en-US" dirty="0">
                <a:solidFill>
                  <a:srgbClr val="1C1A55"/>
                </a:solidFill>
                <a:latin typeface="Cochin" panose="02000603020000020003" pitchFamily="2" charset="0"/>
              </a:rPr>
              <a:t> — Lighter And Smaller Engines Are More Economical.</a:t>
            </a:r>
          </a:p>
          <a:p>
            <a:pPr lvl="0" algn="just" defTabSz="914400" eaLnBrk="0" fontAlgn="base" hangingPunct="0">
              <a:spcBef>
                <a:spcPts val="1000"/>
              </a:spcBef>
              <a:spcAft>
                <a:spcPct val="0"/>
              </a:spcAft>
              <a:buFontTx/>
              <a:buChar char="•"/>
            </a:pPr>
            <a:r>
              <a:rPr lang="en-US" altLang="en-US" b="1" dirty="0">
                <a:solidFill>
                  <a:srgbClr val="1C1A55"/>
                </a:solidFill>
                <a:latin typeface="Cochin" panose="02000603020000020003" pitchFamily="2" charset="0"/>
              </a:rPr>
              <a:t>Newer Car Models</a:t>
            </a:r>
            <a:r>
              <a:rPr lang="en-US" altLang="en-US" dirty="0">
                <a:solidFill>
                  <a:srgbClr val="1C1A55"/>
                </a:solidFill>
                <a:latin typeface="Cochin" panose="02000603020000020003" pitchFamily="2" charset="0"/>
              </a:rPr>
              <a:t> Show Better Mpg, Reflecting </a:t>
            </a:r>
            <a:r>
              <a:rPr lang="en-US" altLang="en-US" b="1" dirty="0">
                <a:solidFill>
                  <a:srgbClr val="1C1A55"/>
                </a:solidFill>
                <a:latin typeface="Cochin" panose="02000603020000020003" pitchFamily="2" charset="0"/>
              </a:rPr>
              <a:t>Technological Improvements</a:t>
            </a:r>
            <a:r>
              <a:rPr lang="en-US" altLang="en-US" dirty="0">
                <a:solidFill>
                  <a:srgbClr val="1C1A55"/>
                </a:solidFill>
                <a:latin typeface="Cochin" panose="02000603020000020003" pitchFamily="2" charset="0"/>
              </a:rPr>
              <a:t>.</a:t>
            </a:r>
          </a:p>
          <a:p>
            <a:pPr lvl="0" algn="just" defTabSz="914400" eaLnBrk="0" fontAlgn="base" hangingPunct="0">
              <a:spcBef>
                <a:spcPts val="1000"/>
              </a:spcBef>
              <a:spcAft>
                <a:spcPct val="0"/>
              </a:spcAft>
              <a:buFontTx/>
              <a:buChar char="•"/>
            </a:pPr>
            <a:r>
              <a:rPr lang="en-US" altLang="en-US" b="1" dirty="0">
                <a:solidFill>
                  <a:srgbClr val="1C1A55"/>
                </a:solidFill>
                <a:latin typeface="Cochin" panose="02000603020000020003" pitchFamily="2" charset="0"/>
              </a:rPr>
              <a:t>Japanese And European Cars</a:t>
            </a:r>
            <a:r>
              <a:rPr lang="en-US" altLang="en-US" dirty="0">
                <a:solidFill>
                  <a:srgbClr val="1C1A55"/>
                </a:solidFill>
                <a:latin typeface="Cochin" panose="02000603020000020003" pitchFamily="2" charset="0"/>
              </a:rPr>
              <a:t> Demonstrate Higher Efficiency — Global Design Practices Can Be Adopted.</a:t>
            </a:r>
          </a:p>
          <a:p>
            <a:pPr lvl="0" algn="just" defTabSz="914400" eaLnBrk="0" fontAlgn="base" hangingPunct="0">
              <a:spcBef>
                <a:spcPts val="1000"/>
              </a:spcBef>
              <a:spcAft>
                <a:spcPct val="0"/>
              </a:spcAft>
              <a:buFontTx/>
              <a:buChar char="•"/>
            </a:pPr>
            <a:r>
              <a:rPr lang="en-US" altLang="en-US" dirty="0">
                <a:solidFill>
                  <a:srgbClr val="1C1A55"/>
                </a:solidFill>
                <a:latin typeface="Cochin" panose="02000603020000020003" pitchFamily="2" charset="0"/>
              </a:rPr>
              <a:t>The </a:t>
            </a:r>
            <a:r>
              <a:rPr lang="en-US" altLang="en-US" b="1" dirty="0">
                <a:solidFill>
                  <a:srgbClr val="1C1A55"/>
                </a:solidFill>
                <a:latin typeface="Cochin" panose="02000603020000020003" pitchFamily="2" charset="0"/>
              </a:rPr>
              <a:t>Random Forest Model (R² = 0.88)</a:t>
            </a:r>
            <a:r>
              <a:rPr lang="en-US" altLang="en-US" dirty="0">
                <a:solidFill>
                  <a:srgbClr val="1C1A55"/>
                </a:solidFill>
                <a:latin typeface="Cochin" panose="02000603020000020003" pitchFamily="2" charset="0"/>
              </a:rPr>
              <a:t> Can Help Predict And Optimize Fuel Efficiency Before Production.</a:t>
            </a:r>
          </a:p>
          <a:p>
            <a:pPr lvl="0" algn="just" defTabSz="914400" eaLnBrk="0" fontAlgn="base" hangingPunct="0">
              <a:spcBef>
                <a:spcPts val="1000"/>
              </a:spcBef>
              <a:spcAft>
                <a:spcPct val="0"/>
              </a:spcAft>
              <a:buFontTx/>
              <a:buChar char="•"/>
            </a:pPr>
            <a:r>
              <a:rPr lang="en-US" altLang="en-US" dirty="0">
                <a:solidFill>
                  <a:srgbClr val="1C1A55"/>
                </a:solidFill>
                <a:latin typeface="Cochin" panose="02000603020000020003" pitchFamily="2" charset="0"/>
              </a:rPr>
              <a:t>Insights Support </a:t>
            </a:r>
            <a:r>
              <a:rPr lang="en-US" altLang="en-US" b="1" dirty="0">
                <a:solidFill>
                  <a:srgbClr val="1C1A55"/>
                </a:solidFill>
                <a:latin typeface="Cochin" panose="02000603020000020003" pitchFamily="2" charset="0"/>
              </a:rPr>
              <a:t>Cost Reduction, Eco-friendly Design, And Smarter Manufacturing Decisions</a:t>
            </a:r>
            <a:r>
              <a:rPr lang="en-US" altLang="en-US" dirty="0">
                <a:solidFill>
                  <a:srgbClr val="1C1A55"/>
                </a:solidFill>
                <a:latin typeface="Cochin" panose="02000603020000020003" pitchFamily="2" charset="0"/>
              </a:rPr>
              <a:t>.</a:t>
            </a:r>
          </a:p>
        </p:txBody>
      </p:sp>
      <p:sp>
        <p:nvSpPr>
          <p:cNvPr id="8" name="TextBox 7">
            <a:extLst>
              <a:ext uri="{FF2B5EF4-FFF2-40B4-BE49-F238E27FC236}">
                <a16:creationId xmlns:a16="http://schemas.microsoft.com/office/drawing/2014/main" id="{B277BA28-AEA2-C16F-69F2-FA115F8EBD63}"/>
              </a:ext>
            </a:extLst>
          </p:cNvPr>
          <p:cNvSpPr txBox="1"/>
          <p:nvPr/>
        </p:nvSpPr>
        <p:spPr>
          <a:xfrm>
            <a:off x="264816" y="4023736"/>
            <a:ext cx="11927183" cy="2133918"/>
          </a:xfrm>
          <a:prstGeom prst="rect">
            <a:avLst/>
          </a:prstGeom>
          <a:noFill/>
        </p:spPr>
        <p:txBody>
          <a:bodyPr wrap="square" rtlCol="0">
            <a:spAutoFit/>
          </a:bodyPr>
          <a:lstStyle/>
          <a:p>
            <a:pPr lvl="0" algn="just" defTabSz="914400" eaLnBrk="0" fontAlgn="base" hangingPunct="0">
              <a:spcBef>
                <a:spcPts val="800"/>
              </a:spcBef>
              <a:spcAft>
                <a:spcPct val="0"/>
              </a:spcAft>
            </a:pPr>
            <a:r>
              <a:rPr lang="en-US" altLang="en-US" b="1" dirty="0">
                <a:solidFill>
                  <a:srgbClr val="1C1A55"/>
                </a:solidFill>
                <a:latin typeface="Cochin" panose="02000603020000020003" pitchFamily="2" charset="0"/>
              </a:rPr>
              <a:t>FUTURE SCOPE:</a:t>
            </a:r>
          </a:p>
          <a:p>
            <a:pPr lvl="0" algn="just" defTabSz="914400" eaLnBrk="0" fontAlgn="base" hangingPunct="0">
              <a:spcBef>
                <a:spcPts val="800"/>
              </a:spcBef>
              <a:spcAft>
                <a:spcPct val="0"/>
              </a:spcAft>
            </a:pPr>
            <a:endParaRPr lang="en-US" altLang="en-US" sz="100" b="1" dirty="0">
              <a:solidFill>
                <a:srgbClr val="1C1A55"/>
              </a:solidFill>
              <a:latin typeface="Cochin" panose="02000603020000020003" pitchFamily="2" charset="0"/>
            </a:endParaRPr>
          </a:p>
          <a:p>
            <a:pPr lvl="0" algn="just" defTabSz="914400" eaLnBrk="0" fontAlgn="base" hangingPunct="0">
              <a:spcBef>
                <a:spcPts val="800"/>
              </a:spcBef>
              <a:spcAft>
                <a:spcPct val="0"/>
              </a:spcAft>
              <a:buFontTx/>
              <a:buChar char="•"/>
            </a:pPr>
            <a:r>
              <a:rPr lang="en-US" altLang="en-US" dirty="0">
                <a:solidFill>
                  <a:srgbClr val="1C1A55"/>
                </a:solidFill>
                <a:latin typeface="Cochin" panose="02000603020000020003" pitchFamily="2" charset="0"/>
              </a:rPr>
              <a:t>Include </a:t>
            </a:r>
            <a:r>
              <a:rPr lang="en-US" altLang="en-US" b="1" dirty="0">
                <a:solidFill>
                  <a:srgbClr val="1C1A55"/>
                </a:solidFill>
                <a:latin typeface="Cochin" panose="02000603020000020003" pitchFamily="2" charset="0"/>
              </a:rPr>
              <a:t>Additional Features</a:t>
            </a:r>
            <a:r>
              <a:rPr lang="en-US" altLang="en-US" dirty="0">
                <a:solidFill>
                  <a:srgbClr val="1C1A55"/>
                </a:solidFill>
                <a:latin typeface="Cochin" panose="02000603020000020003" pitchFamily="2" charset="0"/>
              </a:rPr>
              <a:t> Like Engine Type, Fuel Type, Transmission, And Aerodynamics For Better Accuracy.</a:t>
            </a:r>
          </a:p>
          <a:p>
            <a:pPr lvl="0" algn="just" defTabSz="914400" eaLnBrk="0" fontAlgn="base" hangingPunct="0">
              <a:spcBef>
                <a:spcPts val="1000"/>
              </a:spcBef>
              <a:spcAft>
                <a:spcPct val="0"/>
              </a:spcAft>
              <a:buFontTx/>
              <a:buChar char="•"/>
            </a:pPr>
            <a:r>
              <a:rPr lang="en-US" altLang="en-US" dirty="0">
                <a:solidFill>
                  <a:srgbClr val="1C1A55"/>
                </a:solidFill>
                <a:latin typeface="Cochin" panose="02000603020000020003" pitchFamily="2" charset="0"/>
              </a:rPr>
              <a:t>Apply </a:t>
            </a:r>
            <a:r>
              <a:rPr lang="en-US" altLang="en-US" b="1" dirty="0">
                <a:solidFill>
                  <a:srgbClr val="1C1A55"/>
                </a:solidFill>
                <a:latin typeface="Cochin" panose="02000603020000020003" pitchFamily="2" charset="0"/>
              </a:rPr>
              <a:t>Advanced Models</a:t>
            </a:r>
            <a:r>
              <a:rPr lang="en-US" altLang="en-US" dirty="0">
                <a:solidFill>
                  <a:srgbClr val="1C1A55"/>
                </a:solidFill>
                <a:latin typeface="Cochin" panose="02000603020000020003" pitchFamily="2" charset="0"/>
              </a:rPr>
              <a:t> Such As Xgboost Or Deep Learning For Improved Prediction Performance.</a:t>
            </a:r>
          </a:p>
          <a:p>
            <a:pPr lvl="0" algn="just" defTabSz="914400" eaLnBrk="0" fontAlgn="base" hangingPunct="0">
              <a:spcBef>
                <a:spcPts val="1000"/>
              </a:spcBef>
              <a:spcAft>
                <a:spcPct val="0"/>
              </a:spcAft>
              <a:buFontTx/>
              <a:buChar char="•"/>
            </a:pPr>
            <a:r>
              <a:rPr lang="en-US" altLang="en-US" dirty="0">
                <a:solidFill>
                  <a:srgbClr val="1C1A55"/>
                </a:solidFill>
                <a:latin typeface="Cochin" panose="02000603020000020003" pitchFamily="2" charset="0"/>
              </a:rPr>
              <a:t>Develop A </a:t>
            </a:r>
            <a:r>
              <a:rPr lang="en-US" altLang="en-US" b="1" dirty="0">
                <a:solidFill>
                  <a:srgbClr val="1C1A55"/>
                </a:solidFill>
                <a:latin typeface="Cochin" panose="02000603020000020003" pitchFamily="2" charset="0"/>
              </a:rPr>
              <a:t>Real-time Prediction Dashboard</a:t>
            </a:r>
            <a:r>
              <a:rPr lang="en-US" altLang="en-US" dirty="0">
                <a:solidFill>
                  <a:srgbClr val="1C1A55"/>
                </a:solidFill>
                <a:latin typeface="Cochin" panose="02000603020000020003" pitchFamily="2" charset="0"/>
              </a:rPr>
              <a:t> For Manufacturers To Simulate And Test New Vehicle Designs.</a:t>
            </a:r>
          </a:p>
          <a:p>
            <a:pPr lvl="0" algn="just" defTabSz="914400" eaLnBrk="0" fontAlgn="base" hangingPunct="0">
              <a:spcBef>
                <a:spcPts val="1000"/>
              </a:spcBef>
              <a:spcAft>
                <a:spcPct val="0"/>
              </a:spcAft>
              <a:buFontTx/>
              <a:buChar char="•"/>
            </a:pPr>
            <a:r>
              <a:rPr lang="en-US" altLang="en-US" dirty="0">
                <a:solidFill>
                  <a:srgbClr val="1C1A55"/>
                </a:solidFill>
                <a:latin typeface="Cochin" panose="02000603020000020003" pitchFamily="2" charset="0"/>
              </a:rPr>
              <a:t>Extend The Model For </a:t>
            </a:r>
            <a:r>
              <a:rPr lang="en-US" altLang="en-US" b="1" dirty="0">
                <a:solidFill>
                  <a:srgbClr val="1C1A55"/>
                </a:solidFill>
                <a:latin typeface="Cochin" panose="02000603020000020003" pitchFamily="2" charset="0"/>
              </a:rPr>
              <a:t>Electric And Hybrid Vehicles</a:t>
            </a:r>
            <a:r>
              <a:rPr lang="en-US" altLang="en-US" dirty="0">
                <a:solidFill>
                  <a:srgbClr val="1C1A55"/>
                </a:solidFill>
                <a:latin typeface="Cochin" panose="02000603020000020003" pitchFamily="2" charset="0"/>
              </a:rPr>
              <a:t> To Support Future Mobility Trends.</a:t>
            </a:r>
          </a:p>
        </p:txBody>
      </p:sp>
    </p:spTree>
    <p:extLst>
      <p:ext uri="{BB962C8B-B14F-4D97-AF65-F5344CB8AC3E}">
        <p14:creationId xmlns:p14="http://schemas.microsoft.com/office/powerpoint/2010/main" val="565088438"/>
      </p:ext>
    </p:extLst>
  </p:cSld>
  <p:clrMapOvr>
    <a:masterClrMapping/>
  </p:clrMapOvr>
  <mc:AlternateContent xmlns:mc="http://schemas.openxmlformats.org/markup-compatibility/2006">
    <mc:Choice xmlns:p14="http://schemas.microsoft.com/office/powerpoint/2010/main" Requires="p14">
      <p:transition spd="slow" p14:dur="1600">
        <p14:conveyor dir="l"/>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9B9CA-63AE-A9E3-C002-E40A0B007347}"/>
            </a:ext>
          </a:extLst>
        </p:cNvPr>
        <p:cNvGrpSpPr/>
        <p:nvPr/>
      </p:nvGrpSpPr>
      <p:grpSpPr>
        <a:xfrm>
          <a:off x="0" y="0"/>
          <a:ext cx="0" cy="0"/>
          <a:chOff x="0" y="0"/>
          <a:chExt cx="0" cy="0"/>
        </a:xfrm>
      </p:grpSpPr>
      <p:sp>
        <p:nvSpPr>
          <p:cNvPr id="4" name="Rectangle 1">
            <a:extLst>
              <a:ext uri="{FF2B5EF4-FFF2-40B4-BE49-F238E27FC236}">
                <a16:creationId xmlns:a16="http://schemas.microsoft.com/office/drawing/2014/main" id="{D0188F01-34D5-185B-36EB-FA7117A8D7BD}"/>
              </a:ext>
            </a:extLst>
          </p:cNvPr>
          <p:cNvSpPr>
            <a:spLocks noChangeArrowheads="1"/>
          </p:cNvSpPr>
          <p:nvPr/>
        </p:nvSpPr>
        <p:spPr bwMode="auto">
          <a:xfrm>
            <a:off x="728991" y="721918"/>
            <a:ext cx="10734018" cy="5109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lgn="just" defTabSz="914400">
              <a:spcBef>
                <a:spcPts val="1200"/>
              </a:spcBef>
            </a:pPr>
            <a:endParaRPr lang="en-US" altLang="en-US" sz="1900" dirty="0">
              <a:latin typeface="Cochin" panose="02000603020000020003" pitchFamily="2" charset="0"/>
            </a:endParaRPr>
          </a:p>
          <a:p>
            <a:pPr lvl="0" algn="just" defTabSz="914400">
              <a:spcBef>
                <a:spcPts val="1200"/>
              </a:spcBef>
              <a:buFontTx/>
              <a:buChar char="•"/>
            </a:pPr>
            <a:r>
              <a:rPr lang="en-US" altLang="en-US" sz="1900" dirty="0">
                <a:solidFill>
                  <a:srgbClr val="000000"/>
                </a:solidFill>
                <a:latin typeface="Cochin" panose="02000603020000020003" pitchFamily="2" charset="0"/>
              </a:rPr>
              <a:t>The Project Successfully Analyzed Automobile Data To </a:t>
            </a:r>
            <a:r>
              <a:rPr lang="en-US" altLang="en-US" sz="1900" b="1" dirty="0">
                <a:solidFill>
                  <a:srgbClr val="000000"/>
                </a:solidFill>
                <a:latin typeface="Cochin" panose="02000603020000020003" pitchFamily="2" charset="0"/>
              </a:rPr>
              <a:t>Predict Vehicle Fuel Efficiency (Mpg)</a:t>
            </a:r>
            <a:r>
              <a:rPr lang="en-US" altLang="en-US" sz="1900" dirty="0">
                <a:solidFill>
                  <a:srgbClr val="000000"/>
                </a:solidFill>
                <a:latin typeface="Cochin" panose="02000603020000020003" pitchFamily="2" charset="0"/>
              </a:rPr>
              <a:t> Using Key Attributes Such As Horsepower, Weight, Displacement, And Model Year.</a:t>
            </a:r>
          </a:p>
          <a:p>
            <a:pPr lvl="0" algn="just" defTabSz="914400">
              <a:spcBef>
                <a:spcPts val="1200"/>
              </a:spcBef>
              <a:buFontTx/>
              <a:buChar char="•"/>
            </a:pPr>
            <a:r>
              <a:rPr lang="en-US" altLang="en-US" sz="1900" dirty="0">
                <a:solidFill>
                  <a:srgbClr val="000000"/>
                </a:solidFill>
                <a:latin typeface="Cochin" panose="02000603020000020003" pitchFamily="2" charset="0"/>
              </a:rPr>
              <a:t>Exploratory Analysis Revealed That </a:t>
            </a:r>
            <a:r>
              <a:rPr lang="en-US" altLang="en-US" sz="1900" b="1" dirty="0">
                <a:solidFill>
                  <a:srgbClr val="000000"/>
                </a:solidFill>
                <a:latin typeface="Cochin" panose="02000603020000020003" pitchFamily="2" charset="0"/>
              </a:rPr>
              <a:t>Horsepower, Weight, And Engine Displacement</a:t>
            </a:r>
            <a:r>
              <a:rPr lang="en-US" altLang="en-US" sz="1900" dirty="0">
                <a:solidFill>
                  <a:srgbClr val="000000"/>
                </a:solidFill>
                <a:latin typeface="Cochin" panose="02000603020000020003" pitchFamily="2" charset="0"/>
              </a:rPr>
              <a:t> Have A </a:t>
            </a:r>
            <a:r>
              <a:rPr lang="en-US" altLang="en-US" sz="1900" b="1" dirty="0">
                <a:solidFill>
                  <a:srgbClr val="000000"/>
                </a:solidFill>
                <a:latin typeface="Cochin" panose="02000603020000020003" pitchFamily="2" charset="0"/>
              </a:rPr>
              <a:t>Strong Negative Impaction</a:t>
            </a:r>
            <a:r>
              <a:rPr lang="en-US" altLang="en-US" sz="1900" dirty="0">
                <a:solidFill>
                  <a:srgbClr val="000000"/>
                </a:solidFill>
                <a:latin typeface="Cochin" panose="02000603020000020003" pitchFamily="2" charset="0"/>
              </a:rPr>
              <a:t> Mpg — Meaning Heavier And More Powerful Vehicles Consume More Fuel.</a:t>
            </a:r>
          </a:p>
          <a:p>
            <a:pPr lvl="0" algn="just" defTabSz="914400">
              <a:spcBef>
                <a:spcPts val="1200"/>
              </a:spcBef>
              <a:buFontTx/>
              <a:buChar char="•"/>
            </a:pPr>
            <a:r>
              <a:rPr lang="en-US" altLang="en-US" sz="1900" b="1" dirty="0">
                <a:solidFill>
                  <a:srgbClr val="000000"/>
                </a:solidFill>
                <a:latin typeface="Cochin" panose="02000603020000020003" pitchFamily="2" charset="0"/>
              </a:rPr>
              <a:t>Model Year</a:t>
            </a:r>
            <a:r>
              <a:rPr lang="en-US" altLang="en-US" sz="1900" dirty="0">
                <a:solidFill>
                  <a:srgbClr val="000000"/>
                </a:solidFill>
                <a:latin typeface="Cochin" panose="02000603020000020003" pitchFamily="2" charset="0"/>
              </a:rPr>
              <a:t> And </a:t>
            </a:r>
            <a:r>
              <a:rPr lang="en-US" altLang="en-US" sz="1900" b="1" dirty="0">
                <a:solidFill>
                  <a:srgbClr val="000000"/>
                </a:solidFill>
                <a:latin typeface="Cochin" panose="02000603020000020003" pitchFamily="2" charset="0"/>
              </a:rPr>
              <a:t>Origin</a:t>
            </a:r>
            <a:r>
              <a:rPr lang="en-US" altLang="en-US" sz="1900" dirty="0">
                <a:solidFill>
                  <a:srgbClr val="000000"/>
                </a:solidFill>
                <a:latin typeface="Cochin" panose="02000603020000020003" pitchFamily="2" charset="0"/>
              </a:rPr>
              <a:t> Showed A </a:t>
            </a:r>
            <a:r>
              <a:rPr lang="en-US" altLang="en-US" sz="1900" b="1" dirty="0">
                <a:solidFill>
                  <a:srgbClr val="000000"/>
                </a:solidFill>
                <a:latin typeface="Cochin" panose="02000603020000020003" pitchFamily="2" charset="0"/>
              </a:rPr>
              <a:t>Positive Correlation</a:t>
            </a:r>
            <a:r>
              <a:rPr lang="en-US" altLang="en-US" sz="1900" dirty="0">
                <a:solidFill>
                  <a:srgbClr val="000000"/>
                </a:solidFill>
                <a:latin typeface="Cochin" panose="02000603020000020003" pitchFamily="2" charset="0"/>
              </a:rPr>
              <a:t> With Fuel Efficiency, Indicating That Newer Models And Certain Regions Produce More Efficient Vehicles.</a:t>
            </a:r>
          </a:p>
          <a:p>
            <a:pPr lvl="0" algn="just" defTabSz="914400">
              <a:spcBef>
                <a:spcPts val="1200"/>
              </a:spcBef>
              <a:buFontTx/>
              <a:buChar char="•"/>
            </a:pPr>
            <a:r>
              <a:rPr lang="en-US" altLang="en-US" sz="1900" dirty="0">
                <a:solidFill>
                  <a:srgbClr val="000000"/>
                </a:solidFill>
                <a:latin typeface="Cochin" panose="02000603020000020003" pitchFamily="2" charset="0"/>
              </a:rPr>
              <a:t>Two Models Were Built — </a:t>
            </a:r>
            <a:r>
              <a:rPr lang="en-US" altLang="en-US" sz="1900" b="1" dirty="0">
                <a:solidFill>
                  <a:srgbClr val="000000"/>
                </a:solidFill>
                <a:latin typeface="Cochin" panose="02000603020000020003" pitchFamily="2" charset="0"/>
              </a:rPr>
              <a:t>Linear Regression</a:t>
            </a:r>
            <a:r>
              <a:rPr lang="en-US" altLang="en-US" sz="1900" dirty="0">
                <a:solidFill>
                  <a:srgbClr val="000000"/>
                </a:solidFill>
                <a:latin typeface="Cochin" panose="02000603020000020003" pitchFamily="2" charset="0"/>
              </a:rPr>
              <a:t> And </a:t>
            </a:r>
            <a:r>
              <a:rPr lang="en-US" altLang="en-US" sz="1900" b="1" dirty="0">
                <a:solidFill>
                  <a:srgbClr val="000000"/>
                </a:solidFill>
                <a:latin typeface="Cochin" panose="02000603020000020003" pitchFamily="2" charset="0"/>
              </a:rPr>
              <a:t>Random Forest Regressor</a:t>
            </a:r>
            <a:r>
              <a:rPr lang="en-US" altLang="en-US" sz="1900" dirty="0">
                <a:solidFill>
                  <a:srgbClr val="000000"/>
                </a:solidFill>
                <a:latin typeface="Cochin" panose="02000603020000020003" pitchFamily="2" charset="0"/>
              </a:rPr>
              <a:t> — And </a:t>
            </a:r>
            <a:r>
              <a:rPr lang="en-US" altLang="en-US" sz="1900" b="1" dirty="0">
                <a:solidFill>
                  <a:srgbClr val="000000"/>
                </a:solidFill>
                <a:latin typeface="Cochin" panose="02000603020000020003" pitchFamily="2" charset="0"/>
              </a:rPr>
              <a:t>Random Forest</a:t>
            </a:r>
            <a:r>
              <a:rPr lang="en-US" altLang="en-US" sz="1900" dirty="0">
                <a:solidFill>
                  <a:srgbClr val="000000"/>
                </a:solidFill>
                <a:latin typeface="Cochin" panose="02000603020000020003" pitchFamily="2" charset="0"/>
              </a:rPr>
              <a:t> Performed Better With An </a:t>
            </a:r>
            <a:r>
              <a:rPr lang="en-US" altLang="en-US" sz="1900" b="1" dirty="0">
                <a:solidFill>
                  <a:srgbClr val="000000"/>
                </a:solidFill>
                <a:latin typeface="Cochin" panose="02000603020000020003" pitchFamily="2" charset="0"/>
              </a:rPr>
              <a:t>R² Score Of 0.88</a:t>
            </a:r>
            <a:r>
              <a:rPr lang="en-US" altLang="en-US" sz="1900" dirty="0">
                <a:solidFill>
                  <a:srgbClr val="000000"/>
                </a:solidFill>
                <a:latin typeface="Cochin" panose="02000603020000020003" pitchFamily="2" charset="0"/>
              </a:rPr>
              <a:t>, Compared To </a:t>
            </a:r>
            <a:r>
              <a:rPr lang="en-US" altLang="en-US" sz="1900" b="1" dirty="0">
                <a:solidFill>
                  <a:srgbClr val="000000"/>
                </a:solidFill>
                <a:latin typeface="Cochin" panose="02000603020000020003" pitchFamily="2" charset="0"/>
              </a:rPr>
              <a:t>0.79</a:t>
            </a:r>
            <a:r>
              <a:rPr lang="en-US" altLang="en-US" sz="1900" dirty="0">
                <a:solidFill>
                  <a:srgbClr val="000000"/>
                </a:solidFill>
                <a:latin typeface="Cochin" panose="02000603020000020003" pitchFamily="2" charset="0"/>
              </a:rPr>
              <a:t> For Linear Regression.</a:t>
            </a:r>
          </a:p>
          <a:p>
            <a:pPr lvl="0" algn="just" defTabSz="914400">
              <a:spcBef>
                <a:spcPts val="1200"/>
              </a:spcBef>
              <a:buFontTx/>
              <a:buChar char="•"/>
            </a:pPr>
            <a:r>
              <a:rPr lang="en-US" altLang="en-US" sz="1900" dirty="0">
                <a:solidFill>
                  <a:srgbClr val="000000"/>
                </a:solidFill>
                <a:latin typeface="Cochin" panose="02000603020000020003" pitchFamily="2" charset="0"/>
              </a:rPr>
              <a:t>The Results Confirm That </a:t>
            </a:r>
            <a:r>
              <a:rPr lang="en-US" altLang="en-US" sz="1900" b="1" dirty="0">
                <a:solidFill>
                  <a:srgbClr val="000000"/>
                </a:solidFill>
                <a:latin typeface="Cochin" panose="02000603020000020003" pitchFamily="2" charset="0"/>
              </a:rPr>
              <a:t>Fuel Efficiency Depends On Complex, Non-linear Relationships</a:t>
            </a:r>
            <a:r>
              <a:rPr lang="en-US" altLang="en-US" sz="1900" dirty="0">
                <a:solidFill>
                  <a:srgbClr val="000000"/>
                </a:solidFill>
                <a:latin typeface="Cochin" panose="02000603020000020003" pitchFamily="2" charset="0"/>
              </a:rPr>
              <a:t> Among Features, Which Ensemble Methods Like Random Forest Capture More Effectively.</a:t>
            </a:r>
          </a:p>
          <a:p>
            <a:pPr lvl="0" algn="just" defTabSz="914400">
              <a:spcBef>
                <a:spcPts val="1200"/>
              </a:spcBef>
              <a:buFontTx/>
              <a:buChar char="•"/>
            </a:pPr>
            <a:r>
              <a:rPr lang="en-US" altLang="en-US" sz="1900" dirty="0">
                <a:solidFill>
                  <a:srgbClr val="000000"/>
                </a:solidFill>
                <a:latin typeface="Cochin" panose="02000603020000020003" pitchFamily="2" charset="0"/>
              </a:rPr>
              <a:t>Overall, The Study Provides Valuable Insights For </a:t>
            </a:r>
            <a:r>
              <a:rPr lang="en-US" altLang="en-US" sz="1900" b="1" dirty="0">
                <a:solidFill>
                  <a:srgbClr val="000000"/>
                </a:solidFill>
                <a:latin typeface="Cochin" panose="02000603020000020003" pitchFamily="2" charset="0"/>
              </a:rPr>
              <a:t>Automobile Manufacturers</a:t>
            </a:r>
            <a:r>
              <a:rPr lang="en-US" altLang="en-US" sz="1900" dirty="0">
                <a:solidFill>
                  <a:srgbClr val="000000"/>
                </a:solidFill>
                <a:latin typeface="Cochin" panose="02000603020000020003" pitchFamily="2" charset="0"/>
              </a:rPr>
              <a:t> To Design </a:t>
            </a:r>
            <a:r>
              <a:rPr lang="en-US" altLang="en-US" sz="1900" b="1" dirty="0">
                <a:solidFill>
                  <a:srgbClr val="000000"/>
                </a:solidFill>
                <a:latin typeface="Cochin" panose="02000603020000020003" pitchFamily="2" charset="0"/>
              </a:rPr>
              <a:t>Lighter, More Efficient, And Performance-balanced</a:t>
            </a:r>
            <a:r>
              <a:rPr lang="en-US" altLang="en-US" sz="1900" dirty="0">
                <a:solidFill>
                  <a:srgbClr val="000000"/>
                </a:solidFill>
                <a:latin typeface="Cochin" panose="02000603020000020003" pitchFamily="2" charset="0"/>
              </a:rPr>
              <a:t> Vehicles, Helping Reduce Fuel Consumption And Environmental Impact.</a:t>
            </a:r>
          </a:p>
        </p:txBody>
      </p:sp>
      <p:sp>
        <p:nvSpPr>
          <p:cNvPr id="5" name="Rectangle 4">
            <a:extLst>
              <a:ext uri="{FF2B5EF4-FFF2-40B4-BE49-F238E27FC236}">
                <a16:creationId xmlns:a16="http://schemas.microsoft.com/office/drawing/2014/main" id="{4175F299-20DA-B08F-59BB-D2009DC651BF}"/>
              </a:ext>
            </a:extLst>
          </p:cNvPr>
          <p:cNvSpPr/>
          <p:nvPr/>
        </p:nvSpPr>
        <p:spPr>
          <a:xfrm>
            <a:off x="4816258" y="320634"/>
            <a:ext cx="2559483" cy="584775"/>
          </a:xfrm>
          <a:prstGeom prst="rect">
            <a:avLst/>
          </a:prstGeom>
          <a:noFill/>
        </p:spPr>
        <p:txBody>
          <a:bodyPr wrap="none" lIns="91440" tIns="45720" rIns="91440" bIns="45720">
            <a:spAutoFit/>
          </a:bodyPr>
          <a:lstStyle/>
          <a:p>
            <a:pPr algn="ctr"/>
            <a:r>
              <a:rPr lang="en-US" sz="3200" cap="none" spc="0" dirty="0">
                <a:ln w="0"/>
                <a:gradFill>
                  <a:gsLst>
                    <a:gs pos="21000">
                      <a:srgbClr val="53575C"/>
                    </a:gs>
                    <a:gs pos="88000">
                      <a:srgbClr val="C5C7CA"/>
                    </a:gs>
                  </a:gsLst>
                  <a:lin ang="5400000"/>
                </a:gradFill>
                <a:effectLst/>
              </a:rPr>
              <a:t>CONCLUSION</a:t>
            </a:r>
          </a:p>
        </p:txBody>
      </p:sp>
    </p:spTree>
    <p:extLst>
      <p:ext uri="{BB962C8B-B14F-4D97-AF65-F5344CB8AC3E}">
        <p14:creationId xmlns:p14="http://schemas.microsoft.com/office/powerpoint/2010/main" val="1234587940"/>
      </p:ext>
    </p:extLst>
  </p:cSld>
  <p:clrMapOvr>
    <a:masterClrMapping/>
  </p:clrMapOvr>
  <mc:AlternateContent xmlns:mc="http://schemas.openxmlformats.org/markup-compatibility/2006">
    <mc:Choice xmlns:p14="http://schemas.microsoft.com/office/powerpoint/2010/main" Requires="p14">
      <p:transition spd="slow" p14:dur="1600">
        <p14:conveyor dir="l"/>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solidFill>
                  <a:schemeClr val="tx2">
                    <a:lumMod val="20000"/>
                    <a:lumOff val="80000"/>
                  </a:schemeClr>
                </a:solidFill>
                <a:latin typeface="Calibri" panose="020F0502020204030204" pitchFamily="34" charset="0"/>
              </a:rPr>
              <a:t>Thank You!</a:t>
            </a:r>
            <a:endParaRPr lang="en-IN" sz="6600" b="1" dirty="0">
              <a:solidFill>
                <a:schemeClr val="tx2">
                  <a:lumMod val="20000"/>
                  <a:lumOff val="80000"/>
                </a:schemeClr>
              </a:solidFill>
              <a:latin typeface="Calibri" panose="020F0502020204030204" pitchFamily="34" charset="0"/>
            </a:endParaRPr>
          </a:p>
        </p:txBody>
      </p:sp>
      <p:sp>
        <p:nvSpPr>
          <p:cNvPr id="2" name="TextBox 1">
            <a:extLst>
              <a:ext uri="{FF2B5EF4-FFF2-40B4-BE49-F238E27FC236}">
                <a16:creationId xmlns:a16="http://schemas.microsoft.com/office/drawing/2014/main" id="{C08E583F-5F92-9FD5-3C56-CC5C369455C4}"/>
              </a:ext>
            </a:extLst>
          </p:cNvPr>
          <p:cNvSpPr txBox="1"/>
          <p:nvPr/>
        </p:nvSpPr>
        <p:spPr>
          <a:xfrm>
            <a:off x="8778494" y="6191786"/>
            <a:ext cx="3373039" cy="400110"/>
          </a:xfrm>
          <a:prstGeom prst="rect">
            <a:avLst/>
          </a:prstGeom>
          <a:noFill/>
        </p:spPr>
        <p:txBody>
          <a:bodyPr wrap="none" rtlCol="0">
            <a:spAutoFit/>
          </a:bodyPr>
          <a:lstStyle/>
          <a:p>
            <a:r>
              <a:rPr lang="en-US" sz="2000" b="1" dirty="0">
                <a:solidFill>
                  <a:schemeClr val="tx2">
                    <a:lumMod val="20000"/>
                    <a:lumOff val="80000"/>
                  </a:schemeClr>
                </a:solidFill>
                <a:latin typeface="David" panose="020E0502060401010101" pitchFamily="34" charset="-79"/>
                <a:cs typeface="David" panose="020E0502060401010101" pitchFamily="34" charset="-79"/>
              </a:rPr>
              <a:t>Presented By : Dhayananth J</a:t>
            </a:r>
          </a:p>
        </p:txBody>
      </p:sp>
    </p:spTree>
    <p:extLst>
      <p:ext uri="{BB962C8B-B14F-4D97-AF65-F5344CB8AC3E}">
        <p14:creationId xmlns:p14="http://schemas.microsoft.com/office/powerpoint/2010/main" val="2438371579"/>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Droplet</Template>
  <TotalTime>9179</TotalTime>
  <Words>978</Words>
  <Application>Microsoft Macintosh PowerPoint</Application>
  <PresentationFormat>Widescreen</PresentationFormat>
  <Paragraphs>122</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Ayuthaya</vt:lpstr>
      <vt:lpstr>Calibri</vt:lpstr>
      <vt:lpstr>Cochin</vt:lpstr>
      <vt:lpstr>David</vt:lpstr>
      <vt:lpstr>Tw Cen MT</vt:lpstr>
      <vt:lpstr>Droplet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DHAYANANTH J</cp:lastModifiedBy>
  <cp:revision>2290</cp:revision>
  <dcterms:created xsi:type="dcterms:W3CDTF">2020-12-23T13:36:00Z</dcterms:created>
  <dcterms:modified xsi:type="dcterms:W3CDTF">2025-11-11T05:55:57Z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